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Akzidenz-Grotesk Heavy" charset="1" panose="02000503050000020004"/>
      <p:regular r:id="rId48"/>
    </p:embeddedFont>
    <p:embeddedFont>
      <p:font typeface="Agrandir Narrow Heavy" charset="1" panose="00000A06000000000000"/>
      <p:regular r:id="rId49"/>
    </p:embeddedFont>
    <p:embeddedFont>
      <p:font typeface="Aileron Heavy" charset="1" panose="00000A00000000000000"/>
      <p:regular r:id="rId50"/>
    </p:embeddedFont>
    <p:embeddedFont>
      <p:font typeface="Aileron Ultra-Bold" charset="1" panose="00000A00000000000000"/>
      <p:regular r:id="rId51"/>
    </p:embeddedFont>
    <p:embeddedFont>
      <p:font typeface="Aileron Bold" charset="1" panose="00000800000000000000"/>
      <p:regular r:id="rId52"/>
    </p:embeddedFont>
    <p:embeddedFont>
      <p:font typeface="Open Sans Bold" charset="1" panose="020B0806030504020204"/>
      <p:regular r:id="rId53"/>
    </p:embeddedFont>
    <p:embeddedFont>
      <p:font typeface="Aileron Ultra-Bold Italics" charset="1" panose="00000A0000000000000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jpeg" Type="http://schemas.openxmlformats.org/officeDocument/2006/relationships/image"/><Relationship Id="rId11" Target="../media/image7.png" Type="http://schemas.openxmlformats.org/officeDocument/2006/relationships/image"/><Relationship Id="rId12" Target="../media/image6.pn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jpeg" Type="http://schemas.openxmlformats.org/officeDocument/2006/relationships/image"/><Relationship Id="rId8" Target="../media/image14.jpeg" Type="http://schemas.openxmlformats.org/officeDocument/2006/relationships/image"/><Relationship Id="rId9" Target="../media/image1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1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7.png" Type="http://schemas.openxmlformats.org/officeDocument/2006/relationships/image"/><Relationship Id="rId12" Target="../media/image6.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8.png" Type="http://schemas.openxmlformats.org/officeDocument/2006/relationships/image"/><Relationship Id="rId5" Target="../media/image7.png" Type="http://schemas.openxmlformats.org/officeDocument/2006/relationships/image"/><Relationship Id="rId6"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3.jpeg" Type="http://schemas.openxmlformats.org/officeDocument/2006/relationships/image"/><Relationship Id="rId7" Target="../media/image3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5.jpeg" Type="http://schemas.openxmlformats.org/officeDocument/2006/relationships/image"/><Relationship Id="rId7" Target="../media/image3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7.jpeg" Type="http://schemas.openxmlformats.org/officeDocument/2006/relationships/image"/><Relationship Id="rId7" Target="../media/image3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0.jpeg" Type="http://schemas.openxmlformats.org/officeDocument/2006/relationships/image"/><Relationship Id="rId7" Target="../media/image4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2.jpeg" Type="http://schemas.openxmlformats.org/officeDocument/2006/relationships/image"/><Relationship Id="rId7" Target="../media/image4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4.jpeg" Type="http://schemas.openxmlformats.org/officeDocument/2006/relationships/image"/><Relationship Id="rId7" Target="../media/image4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6.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8.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9.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4.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5.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6.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8.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9.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60.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6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 Id="rId8" Target="../media/image6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 Id="rId8" Target="../media/image6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 Id="rId8" Target="../media/image64.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 Id="rId8" Target="../media/image6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 Id="rId8" Target="../media/image66.png" Type="http://schemas.openxmlformats.org/officeDocument/2006/relationships/image"/><Relationship Id="rId9" Target="../media/image6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 Id="rId8" Target="../media/image68.jpeg" Type="http://schemas.openxmlformats.org/officeDocument/2006/relationships/image"/><Relationship Id="rId9" Target="../media/image69.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224445" y="0"/>
            <a:ext cx="7961245" cy="10287000"/>
            <a:chOff x="0" y="0"/>
            <a:chExt cx="1233405" cy="1593725"/>
          </a:xfrm>
        </p:grpSpPr>
        <p:sp>
          <p:nvSpPr>
            <p:cNvPr name="Freeform 3" id="3"/>
            <p:cNvSpPr/>
            <p:nvPr/>
          </p:nvSpPr>
          <p:spPr>
            <a:xfrm flipH="false" flipV="false" rot="0">
              <a:off x="0" y="0"/>
              <a:ext cx="1233405" cy="1593725"/>
            </a:xfrm>
            <a:custGeom>
              <a:avLst/>
              <a:gdLst/>
              <a:ahLst/>
              <a:cxnLst/>
              <a:rect r="r" b="b" t="t" l="l"/>
              <a:pathLst>
                <a:path h="1593725" w="1233405">
                  <a:moveTo>
                    <a:pt x="0" y="0"/>
                  </a:moveTo>
                  <a:lnTo>
                    <a:pt x="1233405" y="0"/>
                  </a:lnTo>
                  <a:lnTo>
                    <a:pt x="1233405" y="1593725"/>
                  </a:lnTo>
                  <a:lnTo>
                    <a:pt x="0" y="1593725"/>
                  </a:lnTo>
                  <a:close/>
                </a:path>
              </a:pathLst>
            </a:custGeom>
            <a:blipFill>
              <a:blip r:embed="rId2"/>
              <a:stretch>
                <a:fillRect l="0" t="0" r="-93820" b="0"/>
              </a:stretch>
            </a:blipFill>
          </p:spPr>
        </p:sp>
      </p:grpSp>
      <p:grpSp>
        <p:nvGrpSpPr>
          <p:cNvPr name="Group 4" id="4"/>
          <p:cNvGrpSpPr/>
          <p:nvPr/>
        </p:nvGrpSpPr>
        <p:grpSpPr>
          <a:xfrm rot="0">
            <a:off x="4844645" y="3115551"/>
            <a:ext cx="12106839" cy="3086100"/>
            <a:chOff x="0" y="0"/>
            <a:chExt cx="3188633" cy="812800"/>
          </a:xfrm>
        </p:grpSpPr>
        <p:sp>
          <p:nvSpPr>
            <p:cNvPr name="Freeform 5" id="5"/>
            <p:cNvSpPr/>
            <p:nvPr/>
          </p:nvSpPr>
          <p:spPr>
            <a:xfrm flipH="false" flipV="false" rot="0">
              <a:off x="0" y="0"/>
              <a:ext cx="3188633" cy="812800"/>
            </a:xfrm>
            <a:custGeom>
              <a:avLst/>
              <a:gdLst/>
              <a:ahLst/>
              <a:cxnLst/>
              <a:rect r="r" b="b" t="t" l="l"/>
              <a:pathLst>
                <a:path h="812800" w="3188633">
                  <a:moveTo>
                    <a:pt x="0" y="0"/>
                  </a:moveTo>
                  <a:lnTo>
                    <a:pt x="3188633" y="0"/>
                  </a:lnTo>
                  <a:lnTo>
                    <a:pt x="3188633" y="812800"/>
                  </a:lnTo>
                  <a:lnTo>
                    <a:pt x="0" y="812800"/>
                  </a:lnTo>
                  <a:close/>
                </a:path>
              </a:pathLst>
            </a:custGeom>
            <a:solidFill>
              <a:srgbClr val="D9DFCE"/>
            </a:solidFill>
          </p:spPr>
        </p:sp>
        <p:sp>
          <p:nvSpPr>
            <p:cNvPr name="TextBox 6" id="6"/>
            <p:cNvSpPr txBox="true"/>
            <p:nvPr/>
          </p:nvSpPr>
          <p:spPr>
            <a:xfrm>
              <a:off x="0" y="-57150"/>
              <a:ext cx="3188633" cy="869950"/>
            </a:xfrm>
            <a:prstGeom prst="rect">
              <a:avLst/>
            </a:prstGeom>
          </p:spPr>
          <p:txBody>
            <a:bodyPr anchor="ctr" rtlCol="false" tIns="50800" lIns="50800" bIns="50800" rIns="50800"/>
            <a:lstStyle/>
            <a:p>
              <a:pPr algn="ctr">
                <a:lnSpc>
                  <a:spcPts val="3500"/>
                </a:lnSpc>
              </a:pPr>
            </a:p>
          </p:txBody>
        </p:sp>
      </p:grpSp>
      <p:grpSp>
        <p:nvGrpSpPr>
          <p:cNvPr name="Group 7" id="7"/>
          <p:cNvGrpSpPr/>
          <p:nvPr/>
        </p:nvGrpSpPr>
        <p:grpSpPr>
          <a:xfrm rot="0">
            <a:off x="16461382" y="4087825"/>
            <a:ext cx="1595836" cy="159583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true" flipV="false" rot="0">
            <a:off x="16864408" y="4627986"/>
            <a:ext cx="789785" cy="515514"/>
          </a:xfrm>
          <a:custGeom>
            <a:avLst/>
            <a:gdLst/>
            <a:ahLst/>
            <a:cxnLst/>
            <a:rect r="r" b="b" t="t" l="l"/>
            <a:pathLst>
              <a:path h="515514" w="789785">
                <a:moveTo>
                  <a:pt x="789784" y="0"/>
                </a:moveTo>
                <a:lnTo>
                  <a:pt x="0" y="0"/>
                </a:lnTo>
                <a:lnTo>
                  <a:pt x="0" y="515514"/>
                </a:lnTo>
                <a:lnTo>
                  <a:pt x="789784" y="515514"/>
                </a:lnTo>
                <a:lnTo>
                  <a:pt x="78978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9144000" y="752763"/>
            <a:ext cx="1850797" cy="275937"/>
          </a:xfrm>
          <a:custGeom>
            <a:avLst/>
            <a:gdLst/>
            <a:ahLst/>
            <a:cxnLst/>
            <a:rect r="r" b="b" t="t" l="l"/>
            <a:pathLst>
              <a:path h="275937" w="1850797">
                <a:moveTo>
                  <a:pt x="0" y="0"/>
                </a:moveTo>
                <a:lnTo>
                  <a:pt x="1850797" y="0"/>
                </a:lnTo>
                <a:lnTo>
                  <a:pt x="1850797" y="275937"/>
                </a:lnTo>
                <a:lnTo>
                  <a:pt x="0" y="275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a:off x="11242478" y="871682"/>
            <a:ext cx="5218904" cy="0"/>
          </a:xfrm>
          <a:prstGeom prst="line">
            <a:avLst/>
          </a:prstGeom>
          <a:ln cap="flat" w="38100">
            <a:solidFill>
              <a:srgbClr val="577550"/>
            </a:solidFill>
            <a:prstDash val="solid"/>
            <a:headEnd type="none" len="sm" w="sm"/>
            <a:tailEnd type="none" len="sm" w="sm"/>
          </a:ln>
        </p:spPr>
      </p:sp>
      <p:sp>
        <p:nvSpPr>
          <p:cNvPr name="Freeform 13" id="13"/>
          <p:cNvSpPr/>
          <p:nvPr/>
        </p:nvSpPr>
        <p:spPr>
          <a:xfrm flipH="false" flipV="false" rot="0">
            <a:off x="15453524" y="1336277"/>
            <a:ext cx="1805776" cy="902888"/>
          </a:xfrm>
          <a:custGeom>
            <a:avLst/>
            <a:gdLst/>
            <a:ahLst/>
            <a:cxnLst/>
            <a:rect r="r" b="b" t="t" l="l"/>
            <a:pathLst>
              <a:path h="902888" w="1805776">
                <a:moveTo>
                  <a:pt x="0" y="0"/>
                </a:moveTo>
                <a:lnTo>
                  <a:pt x="1805776" y="0"/>
                </a:lnTo>
                <a:lnTo>
                  <a:pt x="1805776" y="902889"/>
                </a:lnTo>
                <a:lnTo>
                  <a:pt x="0" y="902889"/>
                </a:lnTo>
                <a:lnTo>
                  <a:pt x="0" y="0"/>
                </a:lnTo>
                <a:close/>
              </a:path>
            </a:pathLst>
          </a:custGeom>
          <a:blipFill>
            <a:blip r:embed="rId7"/>
            <a:stretch>
              <a:fillRect l="0" t="0" r="0" b="0"/>
            </a:stretch>
          </a:blipFill>
        </p:spPr>
      </p:sp>
      <p:sp>
        <p:nvSpPr>
          <p:cNvPr name="Freeform 14" id="14"/>
          <p:cNvSpPr/>
          <p:nvPr/>
        </p:nvSpPr>
        <p:spPr>
          <a:xfrm flipH="false" flipV="false" rot="0">
            <a:off x="13605726" y="1342721"/>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8"/>
            <a:stretch>
              <a:fillRect l="0" t="0" r="0" b="0"/>
            </a:stretch>
          </a:blipFill>
        </p:spPr>
      </p:sp>
      <p:sp>
        <p:nvSpPr>
          <p:cNvPr name="TextBox 15" id="15"/>
          <p:cNvSpPr txBox="true"/>
          <p:nvPr/>
        </p:nvSpPr>
        <p:spPr>
          <a:xfrm rot="0">
            <a:off x="9144000" y="7287145"/>
            <a:ext cx="11231836" cy="647063"/>
          </a:xfrm>
          <a:prstGeom prst="rect">
            <a:avLst/>
          </a:prstGeom>
        </p:spPr>
        <p:txBody>
          <a:bodyPr anchor="t" rtlCol="false" tIns="0" lIns="0" bIns="0" rIns="0">
            <a:spAutoFit/>
          </a:bodyPr>
          <a:lstStyle/>
          <a:p>
            <a:pPr algn="l">
              <a:lnSpc>
                <a:spcPts val="4760"/>
              </a:lnSpc>
            </a:pPr>
            <a:r>
              <a:rPr lang="en-US" sz="3400" b="true">
                <a:solidFill>
                  <a:srgbClr val="577550"/>
                </a:solidFill>
                <a:latin typeface="Akzidenz-Grotesk Heavy"/>
                <a:ea typeface="Akzidenz-Grotesk Heavy"/>
                <a:cs typeface="Akzidenz-Grotesk Heavy"/>
                <a:sym typeface="Akzidenz-Grotesk Heavy"/>
              </a:rPr>
              <a:t>DATA ENGINEERING / KELOMPOK 2</a:t>
            </a:r>
          </a:p>
        </p:txBody>
      </p:sp>
      <p:sp>
        <p:nvSpPr>
          <p:cNvPr name="TextBox 16" id="16"/>
          <p:cNvSpPr txBox="true"/>
          <p:nvPr/>
        </p:nvSpPr>
        <p:spPr>
          <a:xfrm rot="0">
            <a:off x="14441408" y="7772282"/>
            <a:ext cx="7693185" cy="708659"/>
          </a:xfrm>
          <a:prstGeom prst="rect">
            <a:avLst/>
          </a:prstGeom>
        </p:spPr>
        <p:txBody>
          <a:bodyPr anchor="t" rtlCol="false" tIns="0" lIns="0" bIns="0" rIns="0">
            <a:spAutoFit/>
          </a:bodyPr>
          <a:lstStyle/>
          <a:p>
            <a:pPr algn="l">
              <a:lnSpc>
                <a:spcPts val="5040"/>
              </a:lnSpc>
            </a:pPr>
            <a:r>
              <a:rPr lang="en-US" sz="3600" b="true">
                <a:solidFill>
                  <a:srgbClr val="134E1A"/>
                </a:solidFill>
                <a:latin typeface="Agrandir Narrow Heavy"/>
                <a:ea typeface="Agrandir Narrow Heavy"/>
                <a:cs typeface="Agrandir Narrow Heavy"/>
                <a:sym typeface="Agrandir Narrow Heavy"/>
              </a:rPr>
              <a:t>MENTOR : </a:t>
            </a:r>
          </a:p>
        </p:txBody>
      </p:sp>
      <p:sp>
        <p:nvSpPr>
          <p:cNvPr name="TextBox 17" id="17"/>
          <p:cNvSpPr txBox="true"/>
          <p:nvPr/>
        </p:nvSpPr>
        <p:spPr>
          <a:xfrm rot="0">
            <a:off x="5485160" y="3732636"/>
            <a:ext cx="10871251" cy="2371725"/>
          </a:xfrm>
          <a:prstGeom prst="rect">
            <a:avLst/>
          </a:prstGeom>
        </p:spPr>
        <p:txBody>
          <a:bodyPr anchor="t" rtlCol="false" tIns="0" lIns="0" bIns="0" rIns="0">
            <a:spAutoFit/>
          </a:bodyPr>
          <a:lstStyle/>
          <a:p>
            <a:pPr algn="l">
              <a:lnSpc>
                <a:spcPts val="4680"/>
              </a:lnSpc>
            </a:pPr>
            <a:r>
              <a:rPr lang="en-US" sz="3900" b="true">
                <a:solidFill>
                  <a:srgbClr val="322A2A"/>
                </a:solidFill>
                <a:latin typeface="Aileron Heavy"/>
                <a:ea typeface="Aileron Heavy"/>
                <a:cs typeface="Aileron Heavy"/>
                <a:sym typeface="Aileron Heavy"/>
              </a:rPr>
              <a:t>ANALISIS PENJUALAN KAMBING DI PROVINSI JAWA BARAT DALAM INDUSTRI PETERNAKAN </a:t>
            </a:r>
          </a:p>
          <a:p>
            <a:pPr algn="l">
              <a:lnSpc>
                <a:spcPts val="4680"/>
              </a:lnSpc>
            </a:pPr>
          </a:p>
        </p:txBody>
      </p:sp>
      <p:sp>
        <p:nvSpPr>
          <p:cNvPr name="TextBox 18" id="18"/>
          <p:cNvSpPr txBox="true"/>
          <p:nvPr/>
        </p:nvSpPr>
        <p:spPr>
          <a:xfrm rot="0">
            <a:off x="11915814" y="8347592"/>
            <a:ext cx="7693185" cy="574039"/>
          </a:xfrm>
          <a:prstGeom prst="rect">
            <a:avLst/>
          </a:prstGeom>
        </p:spPr>
        <p:txBody>
          <a:bodyPr anchor="t" rtlCol="false" tIns="0" lIns="0" bIns="0" rIns="0">
            <a:spAutoFit/>
          </a:bodyPr>
          <a:lstStyle/>
          <a:p>
            <a:pPr algn="l">
              <a:lnSpc>
                <a:spcPts val="4060"/>
              </a:lnSpc>
            </a:pPr>
            <a:r>
              <a:rPr lang="en-US" sz="2900" b="true">
                <a:solidFill>
                  <a:srgbClr val="134E1A"/>
                </a:solidFill>
                <a:latin typeface="Agrandir Narrow Heavy"/>
                <a:ea typeface="Agrandir Narrow Heavy"/>
                <a:cs typeface="Agrandir Narrow Heavy"/>
                <a:sym typeface="Agrandir Narrow Heavy"/>
              </a:rPr>
              <a:t>MUHAMMAD FAISAL IRSYAD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9490904"/>
            <a:ext cx="18288000" cy="3237792"/>
            <a:chOff x="0" y="0"/>
            <a:chExt cx="4816593" cy="852752"/>
          </a:xfrm>
        </p:grpSpPr>
        <p:sp>
          <p:nvSpPr>
            <p:cNvPr name="Freeform 3" id="3"/>
            <p:cNvSpPr/>
            <p:nvPr/>
          </p:nvSpPr>
          <p:spPr>
            <a:xfrm flipH="false" flipV="false" rot="0">
              <a:off x="0" y="0"/>
              <a:ext cx="4816592" cy="852752"/>
            </a:xfrm>
            <a:custGeom>
              <a:avLst/>
              <a:gdLst/>
              <a:ahLst/>
              <a:cxnLst/>
              <a:rect r="r" b="b" t="t" l="l"/>
              <a:pathLst>
                <a:path h="852752" w="4816592">
                  <a:moveTo>
                    <a:pt x="0" y="0"/>
                  </a:moveTo>
                  <a:lnTo>
                    <a:pt x="4816592" y="0"/>
                  </a:lnTo>
                  <a:lnTo>
                    <a:pt x="4816592" y="852752"/>
                  </a:lnTo>
                  <a:lnTo>
                    <a:pt x="0" y="852752"/>
                  </a:lnTo>
                  <a:close/>
                </a:path>
              </a:pathLst>
            </a:custGeom>
            <a:solidFill>
              <a:srgbClr val="D9DFCE"/>
            </a:solidFill>
          </p:spPr>
        </p:sp>
        <p:sp>
          <p:nvSpPr>
            <p:cNvPr name="TextBox 4" id="4"/>
            <p:cNvSpPr txBox="true"/>
            <p:nvPr/>
          </p:nvSpPr>
          <p:spPr>
            <a:xfrm>
              <a:off x="0" y="-57150"/>
              <a:ext cx="4816593" cy="909902"/>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2114356" y="0"/>
            <a:ext cx="3427276" cy="4020223"/>
            <a:chOff x="0" y="0"/>
            <a:chExt cx="902657" cy="1058824"/>
          </a:xfrm>
        </p:grpSpPr>
        <p:sp>
          <p:nvSpPr>
            <p:cNvPr name="Freeform 6" id="6"/>
            <p:cNvSpPr/>
            <p:nvPr/>
          </p:nvSpPr>
          <p:spPr>
            <a:xfrm flipH="false" flipV="false" rot="0">
              <a:off x="0" y="0"/>
              <a:ext cx="902657" cy="1058824"/>
            </a:xfrm>
            <a:custGeom>
              <a:avLst/>
              <a:gdLst/>
              <a:ahLst/>
              <a:cxnLst/>
              <a:rect r="r" b="b" t="t" l="l"/>
              <a:pathLst>
                <a:path h="1058824" w="902657">
                  <a:moveTo>
                    <a:pt x="0" y="0"/>
                  </a:moveTo>
                  <a:lnTo>
                    <a:pt x="902657" y="0"/>
                  </a:lnTo>
                  <a:lnTo>
                    <a:pt x="902657" y="1058824"/>
                  </a:lnTo>
                  <a:lnTo>
                    <a:pt x="0" y="1058824"/>
                  </a:lnTo>
                  <a:close/>
                </a:path>
              </a:pathLst>
            </a:custGeom>
            <a:solidFill>
              <a:srgbClr val="F5F8EE"/>
            </a:solidFill>
            <a:ln cap="sq">
              <a:noFill/>
              <a:prstDash val="solid"/>
              <a:miter/>
            </a:ln>
          </p:spPr>
        </p:sp>
        <p:sp>
          <p:nvSpPr>
            <p:cNvPr name="TextBox 7" id="7"/>
            <p:cNvSpPr txBox="true"/>
            <p:nvPr/>
          </p:nvSpPr>
          <p:spPr>
            <a:xfrm>
              <a:off x="0" y="-57150"/>
              <a:ext cx="902657" cy="1115974"/>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16270411" y="8620378"/>
            <a:ext cx="801716" cy="459165"/>
          </a:xfrm>
          <a:custGeom>
            <a:avLst/>
            <a:gdLst/>
            <a:ahLst/>
            <a:cxnLst/>
            <a:rect r="r" b="b" t="t" l="l"/>
            <a:pathLst>
              <a:path h="459165" w="801716">
                <a:moveTo>
                  <a:pt x="0" y="0"/>
                </a:moveTo>
                <a:lnTo>
                  <a:pt x="801717" y="0"/>
                </a:lnTo>
                <a:lnTo>
                  <a:pt x="801717" y="459165"/>
                </a:lnTo>
                <a:lnTo>
                  <a:pt x="0" y="4591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3266392" y="2232514"/>
            <a:ext cx="2806447" cy="280644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16747" r="0" b="-16747"/>
              </a:stretch>
            </a:blipFill>
          </p:spPr>
        </p:sp>
      </p:grpSp>
      <p:sp>
        <p:nvSpPr>
          <p:cNvPr name="TextBox 11" id="11"/>
          <p:cNvSpPr txBox="true"/>
          <p:nvPr/>
        </p:nvSpPr>
        <p:spPr>
          <a:xfrm rot="0">
            <a:off x="7232636" y="5134743"/>
            <a:ext cx="3822728"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Nanang Ubadurrohman</a:t>
            </a:r>
          </a:p>
        </p:txBody>
      </p:sp>
      <p:sp>
        <p:nvSpPr>
          <p:cNvPr name="Freeform 12" id="12"/>
          <p:cNvSpPr/>
          <p:nvPr/>
        </p:nvSpPr>
        <p:spPr>
          <a:xfrm flipH="false" flipV="false" rot="0">
            <a:off x="15701882" y="6382992"/>
            <a:ext cx="1709818" cy="254918"/>
          </a:xfrm>
          <a:custGeom>
            <a:avLst/>
            <a:gdLst/>
            <a:ahLst/>
            <a:cxnLst/>
            <a:rect r="r" b="b" t="t" l="l"/>
            <a:pathLst>
              <a:path h="254918" w="1709818">
                <a:moveTo>
                  <a:pt x="0" y="0"/>
                </a:moveTo>
                <a:lnTo>
                  <a:pt x="1709818" y="0"/>
                </a:lnTo>
                <a:lnTo>
                  <a:pt x="1709818" y="254918"/>
                </a:lnTo>
                <a:lnTo>
                  <a:pt x="0" y="2549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509328" y="2232514"/>
            <a:ext cx="2916307" cy="291630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16747" t="0" r="-16747" b="0"/>
              </a:stretch>
            </a:blipFill>
          </p:spPr>
        </p:sp>
      </p:grpSp>
      <p:grpSp>
        <p:nvGrpSpPr>
          <p:cNvPr name="Group 15" id="15"/>
          <p:cNvGrpSpPr/>
          <p:nvPr/>
        </p:nvGrpSpPr>
        <p:grpSpPr>
          <a:xfrm rot="0">
            <a:off x="10601272" y="5642742"/>
            <a:ext cx="3131019" cy="31310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2205" t="-19691" r="0" b="-16747"/>
              </a:stretch>
            </a:blipFill>
          </p:spPr>
        </p:sp>
      </p:grpSp>
      <p:grpSp>
        <p:nvGrpSpPr>
          <p:cNvPr name="Group 17" id="17"/>
          <p:cNvGrpSpPr/>
          <p:nvPr/>
        </p:nvGrpSpPr>
        <p:grpSpPr>
          <a:xfrm rot="0">
            <a:off x="4054868" y="5633217"/>
            <a:ext cx="3159189" cy="315918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38888" t="0" r="-38888" b="0"/>
              </a:stretch>
            </a:blipFill>
          </p:spPr>
        </p:sp>
      </p:grpSp>
      <p:grpSp>
        <p:nvGrpSpPr>
          <p:cNvPr name="Group 19" id="19"/>
          <p:cNvGrpSpPr/>
          <p:nvPr/>
        </p:nvGrpSpPr>
        <p:grpSpPr>
          <a:xfrm rot="0">
            <a:off x="7575104" y="2122654"/>
            <a:ext cx="3026168" cy="302616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20717" r="0" b="-34649"/>
              </a:stretch>
            </a:blipFill>
          </p:spPr>
        </p:sp>
      </p:grpSp>
      <p:sp>
        <p:nvSpPr>
          <p:cNvPr name="TextBox 21" id="21"/>
          <p:cNvSpPr txBox="true"/>
          <p:nvPr/>
        </p:nvSpPr>
        <p:spPr>
          <a:xfrm rot="0">
            <a:off x="8502522" y="749122"/>
            <a:ext cx="9527741" cy="903732"/>
          </a:xfrm>
          <a:prstGeom prst="rect">
            <a:avLst/>
          </a:prstGeom>
        </p:spPr>
        <p:txBody>
          <a:bodyPr anchor="t" rtlCol="false" tIns="0" lIns="0" bIns="0" rIns="0">
            <a:spAutoFit/>
          </a:bodyPr>
          <a:lstStyle/>
          <a:p>
            <a:pPr algn="l" marL="0" indent="0" lvl="0">
              <a:lnSpc>
                <a:spcPts val="6264"/>
              </a:lnSpc>
              <a:spcBef>
                <a:spcPct val="0"/>
              </a:spcBef>
            </a:pPr>
            <a:r>
              <a:rPr lang="en-US" b="true" sz="5400">
                <a:solidFill>
                  <a:srgbClr val="134E1A"/>
                </a:solidFill>
                <a:latin typeface="Akzidenz-Grotesk Heavy"/>
                <a:ea typeface="Akzidenz-Grotesk Heavy"/>
                <a:cs typeface="Akzidenz-Grotesk Heavy"/>
                <a:sym typeface="Akzidenz-Grotesk Heavy"/>
              </a:rPr>
              <a:t>Anggota Kelompok 2</a:t>
            </a:r>
          </a:p>
        </p:txBody>
      </p:sp>
      <p:sp>
        <p:nvSpPr>
          <p:cNvPr name="TextBox 22" id="22"/>
          <p:cNvSpPr txBox="true"/>
          <p:nvPr/>
        </p:nvSpPr>
        <p:spPr>
          <a:xfrm rot="0">
            <a:off x="1471819" y="5086350"/>
            <a:ext cx="10002286"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Arum Eka Nur Pratiwi</a:t>
            </a:r>
          </a:p>
        </p:txBody>
      </p:sp>
      <p:sp>
        <p:nvSpPr>
          <p:cNvPr name="Freeform 23" id="23"/>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11"/>
            <a:stretch>
              <a:fillRect l="0" t="0" r="0" b="0"/>
            </a:stretch>
          </a:blipFill>
        </p:spPr>
      </p:sp>
      <p:sp>
        <p:nvSpPr>
          <p:cNvPr name="Freeform 24" id="24"/>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12"/>
            <a:stretch>
              <a:fillRect l="0" t="0" r="0" b="0"/>
            </a:stretch>
          </a:blipFill>
        </p:spPr>
      </p:sp>
      <p:sp>
        <p:nvSpPr>
          <p:cNvPr name="TextBox 25" id="25"/>
          <p:cNvSpPr txBox="true"/>
          <p:nvPr/>
        </p:nvSpPr>
        <p:spPr>
          <a:xfrm rot="0">
            <a:off x="3584160" y="8840031"/>
            <a:ext cx="590008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Salsabila Putri Nur Azizah</a:t>
            </a:r>
          </a:p>
        </p:txBody>
      </p:sp>
      <p:sp>
        <p:nvSpPr>
          <p:cNvPr name="TextBox 26" id="26"/>
          <p:cNvSpPr txBox="true"/>
          <p:nvPr/>
        </p:nvSpPr>
        <p:spPr>
          <a:xfrm rot="0">
            <a:off x="10771183" y="8735256"/>
            <a:ext cx="5900087" cy="431744"/>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Faizatul Mukaromah</a:t>
            </a:r>
          </a:p>
        </p:txBody>
      </p:sp>
      <p:sp>
        <p:nvSpPr>
          <p:cNvPr name="TextBox 27" id="27"/>
          <p:cNvSpPr txBox="true"/>
          <p:nvPr/>
        </p:nvSpPr>
        <p:spPr>
          <a:xfrm rot="0">
            <a:off x="13266392" y="5096111"/>
            <a:ext cx="590008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Citra Ronaa Jayanti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7049208"/>
            <a:ext cx="18288000" cy="3237792"/>
            <a:chOff x="0" y="0"/>
            <a:chExt cx="4816593" cy="852752"/>
          </a:xfrm>
        </p:grpSpPr>
        <p:sp>
          <p:nvSpPr>
            <p:cNvPr name="Freeform 3" id="3"/>
            <p:cNvSpPr/>
            <p:nvPr/>
          </p:nvSpPr>
          <p:spPr>
            <a:xfrm flipH="false" flipV="false" rot="0">
              <a:off x="0" y="0"/>
              <a:ext cx="4816592" cy="852752"/>
            </a:xfrm>
            <a:custGeom>
              <a:avLst/>
              <a:gdLst/>
              <a:ahLst/>
              <a:cxnLst/>
              <a:rect r="r" b="b" t="t" l="l"/>
              <a:pathLst>
                <a:path h="852752" w="4816592">
                  <a:moveTo>
                    <a:pt x="0" y="0"/>
                  </a:moveTo>
                  <a:lnTo>
                    <a:pt x="4816592" y="0"/>
                  </a:lnTo>
                  <a:lnTo>
                    <a:pt x="4816592" y="852752"/>
                  </a:lnTo>
                  <a:lnTo>
                    <a:pt x="0" y="852752"/>
                  </a:lnTo>
                  <a:close/>
                </a:path>
              </a:pathLst>
            </a:custGeom>
            <a:solidFill>
              <a:srgbClr val="D9DFCE"/>
            </a:solidFill>
          </p:spPr>
        </p:sp>
        <p:sp>
          <p:nvSpPr>
            <p:cNvPr name="TextBox 4" id="4"/>
            <p:cNvSpPr txBox="true"/>
            <p:nvPr/>
          </p:nvSpPr>
          <p:spPr>
            <a:xfrm>
              <a:off x="0" y="-57150"/>
              <a:ext cx="4816593" cy="909902"/>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2114356" y="0"/>
            <a:ext cx="3427276" cy="4020223"/>
            <a:chOff x="0" y="0"/>
            <a:chExt cx="902657" cy="1058824"/>
          </a:xfrm>
        </p:grpSpPr>
        <p:sp>
          <p:nvSpPr>
            <p:cNvPr name="Freeform 6" id="6"/>
            <p:cNvSpPr/>
            <p:nvPr/>
          </p:nvSpPr>
          <p:spPr>
            <a:xfrm flipH="false" flipV="false" rot="0">
              <a:off x="0" y="0"/>
              <a:ext cx="902657" cy="1058824"/>
            </a:xfrm>
            <a:custGeom>
              <a:avLst/>
              <a:gdLst/>
              <a:ahLst/>
              <a:cxnLst/>
              <a:rect r="r" b="b" t="t" l="l"/>
              <a:pathLst>
                <a:path h="1058824" w="902657">
                  <a:moveTo>
                    <a:pt x="0" y="0"/>
                  </a:moveTo>
                  <a:lnTo>
                    <a:pt x="902657" y="0"/>
                  </a:lnTo>
                  <a:lnTo>
                    <a:pt x="902657" y="1058824"/>
                  </a:lnTo>
                  <a:lnTo>
                    <a:pt x="0" y="1058824"/>
                  </a:lnTo>
                  <a:close/>
                </a:path>
              </a:pathLst>
            </a:custGeom>
            <a:solidFill>
              <a:srgbClr val="F5F8EE"/>
            </a:solidFill>
            <a:ln cap="sq">
              <a:noFill/>
              <a:prstDash val="solid"/>
              <a:miter/>
            </a:ln>
          </p:spPr>
        </p:sp>
        <p:sp>
          <p:nvSpPr>
            <p:cNvPr name="TextBox 7" id="7"/>
            <p:cNvSpPr txBox="true"/>
            <p:nvPr/>
          </p:nvSpPr>
          <p:spPr>
            <a:xfrm>
              <a:off x="0" y="-57150"/>
              <a:ext cx="902657" cy="1115974"/>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8" id="8"/>
          <p:cNvGrpSpPr/>
          <p:nvPr/>
        </p:nvGrpSpPr>
        <p:grpSpPr>
          <a:xfrm rot="0">
            <a:off x="12420213" y="1028700"/>
            <a:ext cx="5176713" cy="8333748"/>
            <a:chOff x="0" y="0"/>
            <a:chExt cx="802008" cy="1291116"/>
          </a:xfrm>
        </p:grpSpPr>
        <p:sp>
          <p:nvSpPr>
            <p:cNvPr name="Freeform 9" id="9"/>
            <p:cNvSpPr/>
            <p:nvPr/>
          </p:nvSpPr>
          <p:spPr>
            <a:xfrm flipH="false" flipV="false" rot="0">
              <a:off x="0" y="0"/>
              <a:ext cx="802008" cy="1291116"/>
            </a:xfrm>
            <a:custGeom>
              <a:avLst/>
              <a:gdLst/>
              <a:ahLst/>
              <a:cxnLst/>
              <a:rect r="r" b="b" t="t" l="l"/>
              <a:pathLst>
                <a:path h="1291116" w="802008">
                  <a:moveTo>
                    <a:pt x="0" y="0"/>
                  </a:moveTo>
                  <a:lnTo>
                    <a:pt x="802008" y="0"/>
                  </a:lnTo>
                  <a:lnTo>
                    <a:pt x="802008" y="1291116"/>
                  </a:lnTo>
                  <a:lnTo>
                    <a:pt x="0" y="1291116"/>
                  </a:lnTo>
                  <a:close/>
                </a:path>
              </a:pathLst>
            </a:custGeom>
            <a:blipFill>
              <a:blip r:embed="rId2"/>
              <a:stretch>
                <a:fillRect l="-55522" t="0" r="-130673" b="0"/>
              </a:stretch>
            </a:blipFill>
          </p:spPr>
        </p:sp>
      </p:grpSp>
      <p:sp>
        <p:nvSpPr>
          <p:cNvPr name="TextBox 10" id="10"/>
          <p:cNvSpPr txBox="true"/>
          <p:nvPr/>
        </p:nvSpPr>
        <p:spPr>
          <a:xfrm rot="0">
            <a:off x="933865" y="2223644"/>
            <a:ext cx="10866165" cy="7034656"/>
          </a:xfrm>
          <a:prstGeom prst="rect">
            <a:avLst/>
          </a:prstGeom>
        </p:spPr>
        <p:txBody>
          <a:bodyPr anchor="t" rtlCol="false" tIns="0" lIns="0" bIns="0" rIns="0">
            <a:spAutoFit/>
          </a:bodyPr>
          <a:lstStyle/>
          <a:p>
            <a:pPr algn="just">
              <a:lnSpc>
                <a:spcPts val="4295"/>
              </a:lnSpc>
            </a:pPr>
            <a:r>
              <a:rPr lang="en-US" sz="2863" b="true">
                <a:solidFill>
                  <a:srgbClr val="322A2A"/>
                </a:solidFill>
                <a:latin typeface="Aileron Bold"/>
                <a:ea typeface="Aileron Bold"/>
                <a:cs typeface="Aileron Bold"/>
                <a:sym typeface="Aileron Bold"/>
              </a:rPr>
              <a:t>Provinsi Jawa Barat merupakan salah satu wilayah yang memiliki kontribusi besar terhadap sektor peternakan di Indonesia, terutama dalam hal peternakan kambing.</a:t>
            </a:r>
          </a:p>
          <a:p>
            <a:pPr algn="just">
              <a:lnSpc>
                <a:spcPts val="4295"/>
              </a:lnSpc>
            </a:pPr>
            <a:r>
              <a:rPr lang="en-US" sz="2863" b="true">
                <a:solidFill>
                  <a:srgbClr val="322A2A"/>
                </a:solidFill>
                <a:latin typeface="Aileron Bold"/>
                <a:ea typeface="Aileron Bold"/>
                <a:cs typeface="Aileron Bold"/>
                <a:sym typeface="Aileron Bold"/>
              </a:rPr>
              <a:t>Banyak Industri Peternakan belum memanfaatkan data mereka secara maksimal karena kurangnya sistem data engineering yang efisien. Dalam industri peternakan, pipeline data untuk membantu menganalisis pola pasar, memprediksi permintaan, dan menemukan strategi yang lebih efektif. Pipeline data dapat mengolah data secara real-time dan memberi peternak dan distributor informasi yang relevan. Ini dapat dicapai dengan integrasi data penjualan, seperti data pembeli, pembayaran, stok kambing, dan transaksi.</a:t>
            </a:r>
          </a:p>
          <a:p>
            <a:pPr algn="just">
              <a:lnSpc>
                <a:spcPts val="4295"/>
              </a:lnSpc>
            </a:pPr>
          </a:p>
        </p:txBody>
      </p:sp>
      <p:sp>
        <p:nvSpPr>
          <p:cNvPr name="Freeform 11" id="11"/>
          <p:cNvSpPr/>
          <p:nvPr/>
        </p:nvSpPr>
        <p:spPr>
          <a:xfrm flipH="false" flipV="false" rot="0">
            <a:off x="12721405" y="9639659"/>
            <a:ext cx="1709818" cy="254918"/>
          </a:xfrm>
          <a:custGeom>
            <a:avLst/>
            <a:gdLst/>
            <a:ahLst/>
            <a:cxnLst/>
            <a:rect r="r" b="b" t="t" l="l"/>
            <a:pathLst>
              <a:path h="254918" w="1709818">
                <a:moveTo>
                  <a:pt x="0" y="0"/>
                </a:moveTo>
                <a:lnTo>
                  <a:pt x="1709818" y="0"/>
                </a:lnTo>
                <a:lnTo>
                  <a:pt x="1709818" y="254919"/>
                </a:lnTo>
                <a:lnTo>
                  <a:pt x="0" y="2549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5"/>
            <a:stretch>
              <a:fillRect l="0" t="0" r="0" b="0"/>
            </a:stretch>
          </a:blipFill>
        </p:spPr>
      </p:sp>
      <p:sp>
        <p:nvSpPr>
          <p:cNvPr name="Freeform 13" id="13"/>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7049208"/>
            <a:ext cx="18288000" cy="3237792"/>
            <a:chOff x="0" y="0"/>
            <a:chExt cx="4816593" cy="852752"/>
          </a:xfrm>
        </p:grpSpPr>
        <p:sp>
          <p:nvSpPr>
            <p:cNvPr name="Freeform 3" id="3"/>
            <p:cNvSpPr/>
            <p:nvPr/>
          </p:nvSpPr>
          <p:spPr>
            <a:xfrm flipH="false" flipV="false" rot="0">
              <a:off x="0" y="0"/>
              <a:ext cx="4816592" cy="852752"/>
            </a:xfrm>
            <a:custGeom>
              <a:avLst/>
              <a:gdLst/>
              <a:ahLst/>
              <a:cxnLst/>
              <a:rect r="r" b="b" t="t" l="l"/>
              <a:pathLst>
                <a:path h="852752" w="4816592">
                  <a:moveTo>
                    <a:pt x="0" y="0"/>
                  </a:moveTo>
                  <a:lnTo>
                    <a:pt x="4816592" y="0"/>
                  </a:lnTo>
                  <a:lnTo>
                    <a:pt x="4816592" y="852752"/>
                  </a:lnTo>
                  <a:lnTo>
                    <a:pt x="0" y="852752"/>
                  </a:lnTo>
                  <a:close/>
                </a:path>
              </a:pathLst>
            </a:custGeom>
            <a:solidFill>
              <a:srgbClr val="D9DFCE"/>
            </a:solidFill>
          </p:spPr>
        </p:sp>
        <p:sp>
          <p:nvSpPr>
            <p:cNvPr name="TextBox 4" id="4"/>
            <p:cNvSpPr txBox="true"/>
            <p:nvPr/>
          </p:nvSpPr>
          <p:spPr>
            <a:xfrm>
              <a:off x="0" y="-57150"/>
              <a:ext cx="4816593" cy="909902"/>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2114356" y="0"/>
            <a:ext cx="3427276" cy="4020223"/>
            <a:chOff x="0" y="0"/>
            <a:chExt cx="902657" cy="1058824"/>
          </a:xfrm>
        </p:grpSpPr>
        <p:sp>
          <p:nvSpPr>
            <p:cNvPr name="Freeform 6" id="6"/>
            <p:cNvSpPr/>
            <p:nvPr/>
          </p:nvSpPr>
          <p:spPr>
            <a:xfrm flipH="false" flipV="false" rot="0">
              <a:off x="0" y="0"/>
              <a:ext cx="902657" cy="1058824"/>
            </a:xfrm>
            <a:custGeom>
              <a:avLst/>
              <a:gdLst/>
              <a:ahLst/>
              <a:cxnLst/>
              <a:rect r="r" b="b" t="t" l="l"/>
              <a:pathLst>
                <a:path h="1058824" w="902657">
                  <a:moveTo>
                    <a:pt x="0" y="0"/>
                  </a:moveTo>
                  <a:lnTo>
                    <a:pt x="902657" y="0"/>
                  </a:lnTo>
                  <a:lnTo>
                    <a:pt x="902657" y="1058824"/>
                  </a:lnTo>
                  <a:lnTo>
                    <a:pt x="0" y="1058824"/>
                  </a:lnTo>
                  <a:close/>
                </a:path>
              </a:pathLst>
            </a:custGeom>
            <a:solidFill>
              <a:srgbClr val="F5F8EE"/>
            </a:solidFill>
            <a:ln cap="sq">
              <a:noFill/>
              <a:prstDash val="solid"/>
              <a:miter/>
            </a:ln>
          </p:spPr>
        </p:sp>
        <p:sp>
          <p:nvSpPr>
            <p:cNvPr name="TextBox 7" id="7"/>
            <p:cNvSpPr txBox="true"/>
            <p:nvPr/>
          </p:nvSpPr>
          <p:spPr>
            <a:xfrm>
              <a:off x="0" y="-57150"/>
              <a:ext cx="902657" cy="1115974"/>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TextBox 8" id="8"/>
          <p:cNvSpPr txBox="true"/>
          <p:nvPr/>
        </p:nvSpPr>
        <p:spPr>
          <a:xfrm rot="0">
            <a:off x="933865" y="2062079"/>
            <a:ext cx="16846498" cy="4862956"/>
          </a:xfrm>
          <a:prstGeom prst="rect">
            <a:avLst/>
          </a:prstGeom>
        </p:spPr>
        <p:txBody>
          <a:bodyPr anchor="t" rtlCol="false" tIns="0" lIns="0" bIns="0" rIns="0">
            <a:spAutoFit/>
          </a:bodyPr>
          <a:lstStyle/>
          <a:p>
            <a:pPr algn="just">
              <a:lnSpc>
                <a:spcPts val="4295"/>
              </a:lnSpc>
            </a:pPr>
            <a:r>
              <a:rPr lang="en-US" sz="2863" b="true">
                <a:solidFill>
                  <a:srgbClr val="322A2A"/>
                </a:solidFill>
                <a:latin typeface="Aileron Bold"/>
                <a:ea typeface="Aileron Bold"/>
                <a:cs typeface="Aileron Bold"/>
                <a:sym typeface="Aileron Bold"/>
              </a:rPr>
              <a:t>Proyek ini bertujuan untuk merancang dan mengimplementasikan pipeline data engineering dalam industri peternakan. Pipeline ini dirancang untuk mencakup proses ingest data dari laporan manual dalam format CSV serta aplikasi OLTP yang menggunakan database PostgreSQL. Data yang dikumpulkan akan dialirkan ke sistem data mart berbasis BigQuery untuk mendukung analitik dan visualisasi. Sistem ini akan dikelola menggunakan Apache Airflow untuk orkestrasi serta Apache Spark untuk transformasi analisis data. Hasil dari proyek ini diharapkan dapat meningkatkan efisiensi pengelolaan data sekaligus menyediakan wawasan yang lebih mendalam untuk mendukung pengambilan keputusan dalam sektor peternakan.</a:t>
            </a:r>
          </a:p>
          <a:p>
            <a:pPr algn="just">
              <a:lnSpc>
                <a:spcPts val="4295"/>
              </a:lnSpc>
            </a:pPr>
          </a:p>
        </p:txBody>
      </p:sp>
      <p:sp>
        <p:nvSpPr>
          <p:cNvPr name="Freeform 9" id="9"/>
          <p:cNvSpPr/>
          <p:nvPr/>
        </p:nvSpPr>
        <p:spPr>
          <a:xfrm flipH="false" flipV="false" rot="0">
            <a:off x="12721405" y="9639659"/>
            <a:ext cx="1709818" cy="254918"/>
          </a:xfrm>
          <a:custGeom>
            <a:avLst/>
            <a:gdLst/>
            <a:ahLst/>
            <a:cxnLst/>
            <a:rect r="r" b="b" t="t" l="l"/>
            <a:pathLst>
              <a:path h="254918" w="1709818">
                <a:moveTo>
                  <a:pt x="0" y="0"/>
                </a:moveTo>
                <a:lnTo>
                  <a:pt x="1709818" y="0"/>
                </a:lnTo>
                <a:lnTo>
                  <a:pt x="1709818" y="254919"/>
                </a:lnTo>
                <a:lnTo>
                  <a:pt x="0" y="25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4"/>
            <a:stretch>
              <a:fillRect l="0" t="0" r="0" b="0"/>
            </a:stretch>
          </a:blipFill>
        </p:spPr>
      </p:sp>
      <p:sp>
        <p:nvSpPr>
          <p:cNvPr name="Freeform 11" id="11"/>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5"/>
            <a:stretch>
              <a:fillRect l="0" t="0" r="0" b="0"/>
            </a:stretch>
          </a:blipFill>
        </p:spPr>
      </p:sp>
      <p:grpSp>
        <p:nvGrpSpPr>
          <p:cNvPr name="Group 12" id="12"/>
          <p:cNvGrpSpPr/>
          <p:nvPr/>
        </p:nvGrpSpPr>
        <p:grpSpPr>
          <a:xfrm rot="0">
            <a:off x="933865" y="7049208"/>
            <a:ext cx="16663061" cy="2313239"/>
            <a:chOff x="0" y="0"/>
            <a:chExt cx="2581544" cy="358381"/>
          </a:xfrm>
        </p:grpSpPr>
        <p:sp>
          <p:nvSpPr>
            <p:cNvPr name="Freeform 13" id="13"/>
            <p:cNvSpPr/>
            <p:nvPr/>
          </p:nvSpPr>
          <p:spPr>
            <a:xfrm flipH="false" flipV="false" rot="0">
              <a:off x="0" y="0"/>
              <a:ext cx="2581544" cy="358381"/>
            </a:xfrm>
            <a:custGeom>
              <a:avLst/>
              <a:gdLst/>
              <a:ahLst/>
              <a:cxnLst/>
              <a:rect r="r" b="b" t="t" l="l"/>
              <a:pathLst>
                <a:path h="358381" w="2581544">
                  <a:moveTo>
                    <a:pt x="0" y="0"/>
                  </a:moveTo>
                  <a:lnTo>
                    <a:pt x="2581544" y="0"/>
                  </a:lnTo>
                  <a:lnTo>
                    <a:pt x="2581544" y="358381"/>
                  </a:lnTo>
                  <a:lnTo>
                    <a:pt x="0" y="358381"/>
                  </a:lnTo>
                  <a:close/>
                </a:path>
              </a:pathLst>
            </a:custGeom>
            <a:blipFill>
              <a:blip r:embed="rId6"/>
              <a:stretch>
                <a:fillRect l="0" t="-131389" r="0" b="-248533"/>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7049208"/>
            <a:ext cx="18288000" cy="3237792"/>
            <a:chOff x="0" y="0"/>
            <a:chExt cx="4816593" cy="852752"/>
          </a:xfrm>
        </p:grpSpPr>
        <p:sp>
          <p:nvSpPr>
            <p:cNvPr name="Freeform 3" id="3"/>
            <p:cNvSpPr/>
            <p:nvPr/>
          </p:nvSpPr>
          <p:spPr>
            <a:xfrm flipH="false" flipV="false" rot="0">
              <a:off x="0" y="0"/>
              <a:ext cx="4816592" cy="852752"/>
            </a:xfrm>
            <a:custGeom>
              <a:avLst/>
              <a:gdLst/>
              <a:ahLst/>
              <a:cxnLst/>
              <a:rect r="r" b="b" t="t" l="l"/>
              <a:pathLst>
                <a:path h="852752" w="4816592">
                  <a:moveTo>
                    <a:pt x="0" y="0"/>
                  </a:moveTo>
                  <a:lnTo>
                    <a:pt x="4816592" y="0"/>
                  </a:lnTo>
                  <a:lnTo>
                    <a:pt x="4816592" y="852752"/>
                  </a:lnTo>
                  <a:lnTo>
                    <a:pt x="0" y="852752"/>
                  </a:lnTo>
                  <a:close/>
                </a:path>
              </a:pathLst>
            </a:custGeom>
            <a:solidFill>
              <a:srgbClr val="D9DFCE"/>
            </a:solidFill>
          </p:spPr>
        </p:sp>
        <p:sp>
          <p:nvSpPr>
            <p:cNvPr name="TextBox 4" id="4"/>
            <p:cNvSpPr txBox="true"/>
            <p:nvPr/>
          </p:nvSpPr>
          <p:spPr>
            <a:xfrm>
              <a:off x="0" y="-57150"/>
              <a:ext cx="4816593" cy="909902"/>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2114356" y="0"/>
            <a:ext cx="3427276" cy="4020223"/>
            <a:chOff x="0" y="0"/>
            <a:chExt cx="902657" cy="1058824"/>
          </a:xfrm>
        </p:grpSpPr>
        <p:sp>
          <p:nvSpPr>
            <p:cNvPr name="Freeform 6" id="6"/>
            <p:cNvSpPr/>
            <p:nvPr/>
          </p:nvSpPr>
          <p:spPr>
            <a:xfrm flipH="false" flipV="false" rot="0">
              <a:off x="0" y="0"/>
              <a:ext cx="902657" cy="1058824"/>
            </a:xfrm>
            <a:custGeom>
              <a:avLst/>
              <a:gdLst/>
              <a:ahLst/>
              <a:cxnLst/>
              <a:rect r="r" b="b" t="t" l="l"/>
              <a:pathLst>
                <a:path h="1058824" w="902657">
                  <a:moveTo>
                    <a:pt x="0" y="0"/>
                  </a:moveTo>
                  <a:lnTo>
                    <a:pt x="902657" y="0"/>
                  </a:lnTo>
                  <a:lnTo>
                    <a:pt x="902657" y="1058824"/>
                  </a:lnTo>
                  <a:lnTo>
                    <a:pt x="0" y="1058824"/>
                  </a:lnTo>
                  <a:close/>
                </a:path>
              </a:pathLst>
            </a:custGeom>
            <a:solidFill>
              <a:srgbClr val="F5F8EE"/>
            </a:solidFill>
            <a:ln cap="sq">
              <a:noFill/>
              <a:prstDash val="solid"/>
              <a:miter/>
            </a:ln>
          </p:spPr>
        </p:sp>
        <p:sp>
          <p:nvSpPr>
            <p:cNvPr name="TextBox 7" id="7"/>
            <p:cNvSpPr txBox="true"/>
            <p:nvPr/>
          </p:nvSpPr>
          <p:spPr>
            <a:xfrm>
              <a:off x="0" y="-57150"/>
              <a:ext cx="902657" cy="1115974"/>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12721405" y="9639659"/>
            <a:ext cx="1709818" cy="254918"/>
          </a:xfrm>
          <a:custGeom>
            <a:avLst/>
            <a:gdLst/>
            <a:ahLst/>
            <a:cxnLst/>
            <a:rect r="r" b="b" t="t" l="l"/>
            <a:pathLst>
              <a:path h="254918" w="1709818">
                <a:moveTo>
                  <a:pt x="0" y="0"/>
                </a:moveTo>
                <a:lnTo>
                  <a:pt x="1709818" y="0"/>
                </a:lnTo>
                <a:lnTo>
                  <a:pt x="1709818" y="254919"/>
                </a:lnTo>
                <a:lnTo>
                  <a:pt x="0" y="25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4"/>
            <a:stretch>
              <a:fillRect l="0" t="0" r="0" b="0"/>
            </a:stretch>
          </a:blipFill>
        </p:spPr>
      </p:sp>
      <p:sp>
        <p:nvSpPr>
          <p:cNvPr name="Freeform 10" id="10"/>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5"/>
            <a:stretch>
              <a:fillRect l="0" t="0" r="0" b="0"/>
            </a:stretch>
          </a:blipFill>
        </p:spPr>
      </p:sp>
      <p:grpSp>
        <p:nvGrpSpPr>
          <p:cNvPr name="Group 11" id="11"/>
          <p:cNvGrpSpPr/>
          <p:nvPr/>
        </p:nvGrpSpPr>
        <p:grpSpPr>
          <a:xfrm rot="0">
            <a:off x="636137" y="2581634"/>
            <a:ext cx="16751663" cy="6166669"/>
            <a:chOff x="0" y="0"/>
            <a:chExt cx="4411961" cy="1624143"/>
          </a:xfrm>
        </p:grpSpPr>
        <p:sp>
          <p:nvSpPr>
            <p:cNvPr name="Freeform 12" id="12"/>
            <p:cNvSpPr/>
            <p:nvPr/>
          </p:nvSpPr>
          <p:spPr>
            <a:xfrm flipH="false" flipV="false" rot="0">
              <a:off x="0" y="0"/>
              <a:ext cx="4411961" cy="1624143"/>
            </a:xfrm>
            <a:custGeom>
              <a:avLst/>
              <a:gdLst/>
              <a:ahLst/>
              <a:cxnLst/>
              <a:rect r="r" b="b" t="t" l="l"/>
              <a:pathLst>
                <a:path h="1624143" w="4411961">
                  <a:moveTo>
                    <a:pt x="0" y="0"/>
                  </a:moveTo>
                  <a:lnTo>
                    <a:pt x="4411961" y="0"/>
                  </a:lnTo>
                  <a:lnTo>
                    <a:pt x="4411961" y="1624143"/>
                  </a:lnTo>
                  <a:lnTo>
                    <a:pt x="0" y="1624143"/>
                  </a:lnTo>
                  <a:close/>
                </a:path>
              </a:pathLst>
            </a:custGeom>
            <a:solidFill>
              <a:srgbClr val="577550"/>
            </a:solidFill>
          </p:spPr>
        </p:sp>
        <p:sp>
          <p:nvSpPr>
            <p:cNvPr name="TextBox 13" id="13"/>
            <p:cNvSpPr txBox="true"/>
            <p:nvPr/>
          </p:nvSpPr>
          <p:spPr>
            <a:xfrm>
              <a:off x="0" y="-57150"/>
              <a:ext cx="4411961" cy="1681293"/>
            </a:xfrm>
            <a:prstGeom prst="rect">
              <a:avLst/>
            </a:prstGeom>
          </p:spPr>
          <p:txBody>
            <a:bodyPr anchor="ctr" rtlCol="false" tIns="50800" lIns="50800" bIns="50800" rIns="50800"/>
            <a:lstStyle/>
            <a:p>
              <a:pPr algn="ctr">
                <a:lnSpc>
                  <a:spcPts val="3500"/>
                </a:lnSpc>
              </a:pPr>
            </a:p>
          </p:txBody>
        </p:sp>
      </p:grpSp>
      <p:sp>
        <p:nvSpPr>
          <p:cNvPr name="TextBox 14" id="14"/>
          <p:cNvSpPr txBox="true"/>
          <p:nvPr/>
        </p:nvSpPr>
        <p:spPr>
          <a:xfrm rot="0">
            <a:off x="1028700" y="2996505"/>
            <a:ext cx="15444857" cy="4862956"/>
          </a:xfrm>
          <a:prstGeom prst="rect">
            <a:avLst/>
          </a:prstGeom>
        </p:spPr>
        <p:txBody>
          <a:bodyPr anchor="t" rtlCol="false" tIns="0" lIns="0" bIns="0" rIns="0">
            <a:spAutoFit/>
          </a:bodyPr>
          <a:lstStyle/>
          <a:p>
            <a:pPr algn="just">
              <a:lnSpc>
                <a:spcPts val="4295"/>
              </a:lnSpc>
            </a:pPr>
            <a:r>
              <a:rPr lang="en-US" sz="2863" b="true">
                <a:solidFill>
                  <a:srgbClr val="FFFFFF"/>
                </a:solidFill>
                <a:latin typeface="Aileron Ultra-Bold"/>
                <a:ea typeface="Aileron Ultra-Bold"/>
                <a:cs typeface="Aileron Ultra-Bold"/>
                <a:sym typeface="Aileron Ultra-Bold"/>
              </a:rPr>
              <a:t>Penelitian ini diharapkan dapat memberikan manfaat sebagai berikut :</a:t>
            </a:r>
          </a:p>
          <a:p>
            <a:pPr algn="just">
              <a:lnSpc>
                <a:spcPts val="4295"/>
              </a:lnSpc>
            </a:pPr>
          </a:p>
          <a:p>
            <a:pPr algn="just" marL="618201" indent="-309100" lvl="1">
              <a:lnSpc>
                <a:spcPts val="4295"/>
              </a:lnSpc>
              <a:buAutoNum type="arabicPeriod" startAt="1"/>
            </a:pPr>
            <a:r>
              <a:rPr lang="en-US" b="true" sz="2863">
                <a:solidFill>
                  <a:srgbClr val="FFFFFF"/>
                </a:solidFill>
                <a:latin typeface="Aileron Ultra-Bold"/>
                <a:ea typeface="Aileron Ultra-Bold"/>
                <a:cs typeface="Aileron Ultra-Bold"/>
                <a:sym typeface="Aileron Ultra-Bold"/>
              </a:rPr>
              <a:t>Peningkatan efisiensi operasional</a:t>
            </a:r>
          </a:p>
          <a:p>
            <a:pPr algn="just" marL="618201" indent="-309100" lvl="1">
              <a:lnSpc>
                <a:spcPts val="4295"/>
              </a:lnSpc>
              <a:buAutoNum type="arabicPeriod" startAt="1"/>
            </a:pPr>
            <a:r>
              <a:rPr lang="en-US" b="true" sz="2863">
                <a:solidFill>
                  <a:srgbClr val="FFFFFF"/>
                </a:solidFill>
                <a:latin typeface="Aileron Ultra-Bold"/>
                <a:ea typeface="Aileron Ultra-Bold"/>
                <a:cs typeface="Aileron Ultra-Bold"/>
                <a:sym typeface="Aileron Ultra-Bold"/>
              </a:rPr>
              <a:t>Pengambilan keputusan yang berbasis data</a:t>
            </a:r>
          </a:p>
          <a:p>
            <a:pPr algn="just" marL="618201" indent="-309100" lvl="1">
              <a:lnSpc>
                <a:spcPts val="4295"/>
              </a:lnSpc>
              <a:buAutoNum type="arabicPeriod" startAt="1"/>
            </a:pPr>
            <a:r>
              <a:rPr lang="en-US" b="true" sz="2863">
                <a:solidFill>
                  <a:srgbClr val="FFFFFF"/>
                </a:solidFill>
                <a:latin typeface="Aileron Ultra-Bold"/>
                <a:ea typeface="Aileron Ultra-Bold"/>
                <a:cs typeface="Aileron Ultra-Bold"/>
                <a:sym typeface="Aileron Ultra-Bold"/>
              </a:rPr>
              <a:t>Membantu mengidentifikasi pola pasar, yang dapat dimanfaatkan untuk mencegah overproduksi atau kekurangan pasokan.</a:t>
            </a:r>
          </a:p>
          <a:p>
            <a:pPr algn="just" marL="618201" indent="-309100" lvl="1">
              <a:lnSpc>
                <a:spcPts val="4295"/>
              </a:lnSpc>
              <a:buAutoNum type="arabicPeriod" startAt="1"/>
            </a:pPr>
            <a:r>
              <a:rPr lang="en-US" b="true" sz="2863">
                <a:solidFill>
                  <a:srgbClr val="FFFFFF"/>
                </a:solidFill>
                <a:latin typeface="Aileron Ultra-Bold"/>
                <a:ea typeface="Aileron Ultra-Bold"/>
                <a:cs typeface="Aileron Ultra-Bold"/>
                <a:sym typeface="Aileron Ultra-Bold"/>
              </a:rPr>
              <a:t>Membantu peternak dan distributor memahami tren pasar sehingga dapat      mengambil keputusan yang lebih baik terkait produksi dan distribusi.</a:t>
            </a:r>
          </a:p>
          <a:p>
            <a:pPr algn="just">
              <a:lnSpc>
                <a:spcPts val="429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28700" y="2353407"/>
            <a:ext cx="16801204" cy="6904893"/>
            <a:chOff x="0" y="0"/>
            <a:chExt cx="4425009" cy="1818573"/>
          </a:xfrm>
        </p:grpSpPr>
        <p:sp>
          <p:nvSpPr>
            <p:cNvPr name="Freeform 3" id="3"/>
            <p:cNvSpPr/>
            <p:nvPr/>
          </p:nvSpPr>
          <p:spPr>
            <a:xfrm flipH="false" flipV="false" rot="0">
              <a:off x="0" y="0"/>
              <a:ext cx="4425009" cy="1818573"/>
            </a:xfrm>
            <a:custGeom>
              <a:avLst/>
              <a:gdLst/>
              <a:ahLst/>
              <a:cxnLst/>
              <a:rect r="r" b="b" t="t" l="l"/>
              <a:pathLst>
                <a:path h="1818573" w="4425009">
                  <a:moveTo>
                    <a:pt x="0" y="0"/>
                  </a:moveTo>
                  <a:lnTo>
                    <a:pt x="4425009" y="0"/>
                  </a:lnTo>
                  <a:lnTo>
                    <a:pt x="4425009" y="1818573"/>
                  </a:lnTo>
                  <a:lnTo>
                    <a:pt x="0" y="1818573"/>
                  </a:lnTo>
                  <a:close/>
                </a:path>
              </a:pathLst>
            </a:custGeom>
            <a:solidFill>
              <a:srgbClr val="F5F8EE"/>
            </a:solidFill>
            <a:ln cap="sq">
              <a:noFill/>
              <a:prstDash val="solid"/>
              <a:miter/>
            </a:ln>
          </p:spPr>
        </p:sp>
        <p:sp>
          <p:nvSpPr>
            <p:cNvPr name="TextBox 4" id="4"/>
            <p:cNvSpPr txBox="true"/>
            <p:nvPr/>
          </p:nvSpPr>
          <p:spPr>
            <a:xfrm>
              <a:off x="0" y="-57150"/>
              <a:ext cx="4425009" cy="1875723"/>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316955" y="2827430"/>
            <a:ext cx="874849" cy="874849"/>
            <a:chOff x="0" y="0"/>
            <a:chExt cx="230413" cy="230413"/>
          </a:xfrm>
        </p:grpSpPr>
        <p:sp>
          <p:nvSpPr>
            <p:cNvPr name="Freeform 6" id="6"/>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577550"/>
            </a:solidFill>
          </p:spPr>
        </p:sp>
        <p:sp>
          <p:nvSpPr>
            <p:cNvPr name="TextBox 7" id="7"/>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0" y="9258300"/>
            <a:ext cx="18288000" cy="1028700"/>
            <a:chOff x="0" y="0"/>
            <a:chExt cx="4816593" cy="270933"/>
          </a:xfrm>
        </p:grpSpPr>
        <p:sp>
          <p:nvSpPr>
            <p:cNvPr name="Freeform 9" id="9"/>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D9DFCE"/>
            </a:solidFill>
          </p:spPr>
        </p:sp>
        <p:sp>
          <p:nvSpPr>
            <p:cNvPr name="TextBox 10" id="10"/>
            <p:cNvSpPr txBox="true"/>
            <p:nvPr/>
          </p:nvSpPr>
          <p:spPr>
            <a:xfrm>
              <a:off x="0" y="-57150"/>
              <a:ext cx="4816593" cy="328083"/>
            </a:xfrm>
            <a:prstGeom prst="rect">
              <a:avLst/>
            </a:prstGeom>
          </p:spPr>
          <p:txBody>
            <a:bodyPr anchor="ctr" rtlCol="false" tIns="50800" lIns="50800" bIns="50800" rIns="50800"/>
            <a:lstStyle/>
            <a:p>
              <a:pPr algn="ctr">
                <a:lnSpc>
                  <a:spcPts val="3500"/>
                </a:lnSpc>
              </a:pPr>
            </a:p>
          </p:txBody>
        </p:sp>
      </p:grpSp>
      <p:grpSp>
        <p:nvGrpSpPr>
          <p:cNvPr name="Group 11" id="11"/>
          <p:cNvGrpSpPr/>
          <p:nvPr/>
        </p:nvGrpSpPr>
        <p:grpSpPr>
          <a:xfrm rot="0">
            <a:off x="1316955" y="4931004"/>
            <a:ext cx="874849" cy="874849"/>
            <a:chOff x="0" y="0"/>
            <a:chExt cx="230413" cy="230413"/>
          </a:xfrm>
        </p:grpSpPr>
        <p:sp>
          <p:nvSpPr>
            <p:cNvPr name="Freeform 12" id="12"/>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577550"/>
            </a:solidFill>
          </p:spPr>
        </p:sp>
        <p:sp>
          <p:nvSpPr>
            <p:cNvPr name="TextBox 13" id="13"/>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grpSp>
        <p:nvGrpSpPr>
          <p:cNvPr name="Group 14" id="14"/>
          <p:cNvGrpSpPr/>
          <p:nvPr/>
        </p:nvGrpSpPr>
        <p:grpSpPr>
          <a:xfrm rot="0">
            <a:off x="1463219" y="6843443"/>
            <a:ext cx="874849" cy="874849"/>
            <a:chOff x="0" y="0"/>
            <a:chExt cx="230413" cy="230413"/>
          </a:xfrm>
        </p:grpSpPr>
        <p:sp>
          <p:nvSpPr>
            <p:cNvPr name="Freeform 15" id="15"/>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577550"/>
            </a:solidFill>
          </p:spPr>
        </p:sp>
        <p:sp>
          <p:nvSpPr>
            <p:cNvPr name="TextBox 16" id="16"/>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1608116" y="3065042"/>
            <a:ext cx="292528" cy="437338"/>
          </a:xfrm>
          <a:custGeom>
            <a:avLst/>
            <a:gdLst/>
            <a:ahLst/>
            <a:cxnLst/>
            <a:rect r="r" b="b" t="t" l="l"/>
            <a:pathLst>
              <a:path h="437338" w="292528">
                <a:moveTo>
                  <a:pt x="0" y="0"/>
                </a:moveTo>
                <a:lnTo>
                  <a:pt x="292527" y="0"/>
                </a:lnTo>
                <a:lnTo>
                  <a:pt x="292527"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608116" y="5054192"/>
            <a:ext cx="292528" cy="437338"/>
          </a:xfrm>
          <a:custGeom>
            <a:avLst/>
            <a:gdLst/>
            <a:ahLst/>
            <a:cxnLst/>
            <a:rect r="r" b="b" t="t" l="l"/>
            <a:pathLst>
              <a:path h="437338" w="292528">
                <a:moveTo>
                  <a:pt x="0" y="0"/>
                </a:moveTo>
                <a:lnTo>
                  <a:pt x="292527" y="0"/>
                </a:lnTo>
                <a:lnTo>
                  <a:pt x="292527"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754380" y="7030854"/>
            <a:ext cx="292528" cy="437338"/>
          </a:xfrm>
          <a:custGeom>
            <a:avLst/>
            <a:gdLst/>
            <a:ahLst/>
            <a:cxnLst/>
            <a:rect r="r" b="b" t="t" l="l"/>
            <a:pathLst>
              <a:path h="437338" w="292528">
                <a:moveTo>
                  <a:pt x="0" y="0"/>
                </a:moveTo>
                <a:lnTo>
                  <a:pt x="292527" y="0"/>
                </a:lnTo>
                <a:lnTo>
                  <a:pt x="292527"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5424750" y="1028700"/>
            <a:ext cx="2061808" cy="307397"/>
          </a:xfrm>
          <a:custGeom>
            <a:avLst/>
            <a:gdLst/>
            <a:ahLst/>
            <a:cxnLst/>
            <a:rect r="r" b="b" t="t" l="l"/>
            <a:pathLst>
              <a:path h="307397" w="2061808">
                <a:moveTo>
                  <a:pt x="0" y="0"/>
                </a:moveTo>
                <a:lnTo>
                  <a:pt x="2061808" y="0"/>
                </a:lnTo>
                <a:lnTo>
                  <a:pt x="2061808" y="307397"/>
                </a:lnTo>
                <a:lnTo>
                  <a:pt x="0" y="30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5515155" y="2699443"/>
            <a:ext cx="985088" cy="1105848"/>
          </a:xfrm>
          <a:custGeom>
            <a:avLst/>
            <a:gdLst/>
            <a:ahLst/>
            <a:cxnLst/>
            <a:rect r="r" b="b" t="t" l="l"/>
            <a:pathLst>
              <a:path h="1105848" w="985088">
                <a:moveTo>
                  <a:pt x="0" y="0"/>
                </a:moveTo>
                <a:lnTo>
                  <a:pt x="985088" y="0"/>
                </a:lnTo>
                <a:lnTo>
                  <a:pt x="985088" y="1105847"/>
                </a:lnTo>
                <a:lnTo>
                  <a:pt x="0" y="1105847"/>
                </a:lnTo>
                <a:lnTo>
                  <a:pt x="0" y="0"/>
                </a:lnTo>
                <a:close/>
              </a:path>
            </a:pathLst>
          </a:custGeom>
          <a:blipFill>
            <a:blip r:embed="rId6"/>
            <a:stretch>
              <a:fillRect l="-6129" t="0" r="-6129" b="0"/>
            </a:stretch>
          </a:blipFill>
        </p:spPr>
      </p:sp>
      <p:sp>
        <p:nvSpPr>
          <p:cNvPr name="Freeform 22" id="22"/>
          <p:cNvSpPr/>
          <p:nvPr/>
        </p:nvSpPr>
        <p:spPr>
          <a:xfrm flipH="false" flipV="false" rot="0">
            <a:off x="4843571" y="4652727"/>
            <a:ext cx="2057311" cy="1028656"/>
          </a:xfrm>
          <a:custGeom>
            <a:avLst/>
            <a:gdLst/>
            <a:ahLst/>
            <a:cxnLst/>
            <a:rect r="r" b="b" t="t" l="l"/>
            <a:pathLst>
              <a:path h="1028656" w="2057311">
                <a:moveTo>
                  <a:pt x="0" y="0"/>
                </a:moveTo>
                <a:lnTo>
                  <a:pt x="2057311" y="0"/>
                </a:lnTo>
                <a:lnTo>
                  <a:pt x="2057311" y="1028655"/>
                </a:lnTo>
                <a:lnTo>
                  <a:pt x="0" y="1028655"/>
                </a:lnTo>
                <a:lnTo>
                  <a:pt x="0" y="0"/>
                </a:lnTo>
                <a:close/>
              </a:path>
            </a:pathLst>
          </a:custGeom>
          <a:blipFill>
            <a:blip r:embed="rId7"/>
            <a:stretch>
              <a:fillRect l="0" t="0" r="0" b="0"/>
            </a:stretch>
          </a:blipFill>
        </p:spPr>
      </p:sp>
      <p:grpSp>
        <p:nvGrpSpPr>
          <p:cNvPr name="Group 23" id="23"/>
          <p:cNvGrpSpPr/>
          <p:nvPr/>
        </p:nvGrpSpPr>
        <p:grpSpPr>
          <a:xfrm rot="0">
            <a:off x="10265813" y="3202078"/>
            <a:ext cx="874849" cy="874849"/>
            <a:chOff x="0" y="0"/>
            <a:chExt cx="230413" cy="230413"/>
          </a:xfrm>
        </p:grpSpPr>
        <p:sp>
          <p:nvSpPr>
            <p:cNvPr name="Freeform 24" id="24"/>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577550"/>
            </a:solidFill>
          </p:spPr>
        </p:sp>
        <p:sp>
          <p:nvSpPr>
            <p:cNvPr name="TextBox 25" id="25"/>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26" id="26"/>
          <p:cNvSpPr/>
          <p:nvPr/>
        </p:nvSpPr>
        <p:spPr>
          <a:xfrm flipH="false" flipV="false" rot="0">
            <a:off x="10587554" y="3367952"/>
            <a:ext cx="292528" cy="437338"/>
          </a:xfrm>
          <a:custGeom>
            <a:avLst/>
            <a:gdLst/>
            <a:ahLst/>
            <a:cxnLst/>
            <a:rect r="r" b="b" t="t" l="l"/>
            <a:pathLst>
              <a:path h="437338" w="292528">
                <a:moveTo>
                  <a:pt x="0" y="0"/>
                </a:moveTo>
                <a:lnTo>
                  <a:pt x="292527" y="0"/>
                </a:lnTo>
                <a:lnTo>
                  <a:pt x="292527" y="437338"/>
                </a:lnTo>
                <a:lnTo>
                  <a:pt x="0" y="437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5154339" y="6614832"/>
            <a:ext cx="1706719" cy="1706719"/>
          </a:xfrm>
          <a:custGeom>
            <a:avLst/>
            <a:gdLst/>
            <a:ahLst/>
            <a:cxnLst/>
            <a:rect r="r" b="b" t="t" l="l"/>
            <a:pathLst>
              <a:path h="1706719" w="1706719">
                <a:moveTo>
                  <a:pt x="0" y="0"/>
                </a:moveTo>
                <a:lnTo>
                  <a:pt x="1706720" y="0"/>
                </a:lnTo>
                <a:lnTo>
                  <a:pt x="1706720" y="1706720"/>
                </a:lnTo>
                <a:lnTo>
                  <a:pt x="0" y="1706720"/>
                </a:lnTo>
                <a:lnTo>
                  <a:pt x="0" y="0"/>
                </a:lnTo>
                <a:close/>
              </a:path>
            </a:pathLst>
          </a:custGeom>
          <a:blipFill>
            <a:blip r:embed="rId8"/>
            <a:stretch>
              <a:fillRect l="0" t="0" r="0" b="0"/>
            </a:stretch>
          </a:blipFill>
        </p:spPr>
      </p:sp>
      <p:grpSp>
        <p:nvGrpSpPr>
          <p:cNvPr name="Group 28" id="28"/>
          <p:cNvGrpSpPr/>
          <p:nvPr/>
        </p:nvGrpSpPr>
        <p:grpSpPr>
          <a:xfrm rot="0">
            <a:off x="10265813" y="5641339"/>
            <a:ext cx="874849" cy="874849"/>
            <a:chOff x="0" y="0"/>
            <a:chExt cx="230413" cy="230413"/>
          </a:xfrm>
        </p:grpSpPr>
        <p:sp>
          <p:nvSpPr>
            <p:cNvPr name="Freeform 29" id="29"/>
            <p:cNvSpPr/>
            <p:nvPr/>
          </p:nvSpPr>
          <p:spPr>
            <a:xfrm flipH="false" flipV="false" rot="0">
              <a:off x="0" y="0"/>
              <a:ext cx="230413" cy="230413"/>
            </a:xfrm>
            <a:custGeom>
              <a:avLst/>
              <a:gdLst/>
              <a:ahLst/>
              <a:cxnLst/>
              <a:rect r="r" b="b" t="t" l="l"/>
              <a:pathLst>
                <a:path h="230413" w="230413">
                  <a:moveTo>
                    <a:pt x="0" y="0"/>
                  </a:moveTo>
                  <a:lnTo>
                    <a:pt x="230413" y="0"/>
                  </a:lnTo>
                  <a:lnTo>
                    <a:pt x="230413" y="230413"/>
                  </a:lnTo>
                  <a:lnTo>
                    <a:pt x="0" y="230413"/>
                  </a:lnTo>
                  <a:close/>
                </a:path>
              </a:pathLst>
            </a:custGeom>
            <a:solidFill>
              <a:srgbClr val="577550"/>
            </a:solidFill>
          </p:spPr>
        </p:sp>
        <p:sp>
          <p:nvSpPr>
            <p:cNvPr name="TextBox 30" id="30"/>
            <p:cNvSpPr txBox="true"/>
            <p:nvPr/>
          </p:nvSpPr>
          <p:spPr>
            <a:xfrm>
              <a:off x="0" y="-57150"/>
              <a:ext cx="230413" cy="287563"/>
            </a:xfrm>
            <a:prstGeom prst="rect">
              <a:avLst/>
            </a:prstGeom>
          </p:spPr>
          <p:txBody>
            <a:bodyPr anchor="ctr" rtlCol="false" tIns="50800" lIns="50800" bIns="50800" rIns="50800"/>
            <a:lstStyle/>
            <a:p>
              <a:pPr algn="ctr">
                <a:lnSpc>
                  <a:spcPts val="3500"/>
                </a:lnSpc>
              </a:pPr>
            </a:p>
          </p:txBody>
        </p:sp>
      </p:grpSp>
      <p:sp>
        <p:nvSpPr>
          <p:cNvPr name="Freeform 31" id="31"/>
          <p:cNvSpPr/>
          <p:nvPr/>
        </p:nvSpPr>
        <p:spPr>
          <a:xfrm flipH="false" flipV="false" rot="0">
            <a:off x="10556974" y="5828749"/>
            <a:ext cx="292528" cy="437338"/>
          </a:xfrm>
          <a:custGeom>
            <a:avLst/>
            <a:gdLst/>
            <a:ahLst/>
            <a:cxnLst/>
            <a:rect r="r" b="b" t="t" l="l"/>
            <a:pathLst>
              <a:path h="437338" w="292528">
                <a:moveTo>
                  <a:pt x="0" y="0"/>
                </a:moveTo>
                <a:lnTo>
                  <a:pt x="292528" y="0"/>
                </a:lnTo>
                <a:lnTo>
                  <a:pt x="292528" y="437339"/>
                </a:lnTo>
                <a:lnTo>
                  <a:pt x="0" y="4373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14502988" y="5588648"/>
            <a:ext cx="2419426" cy="1354878"/>
          </a:xfrm>
          <a:custGeom>
            <a:avLst/>
            <a:gdLst/>
            <a:ahLst/>
            <a:cxnLst/>
            <a:rect r="r" b="b" t="t" l="l"/>
            <a:pathLst>
              <a:path h="1354878" w="2419426">
                <a:moveTo>
                  <a:pt x="0" y="0"/>
                </a:moveTo>
                <a:lnTo>
                  <a:pt x="2419425" y="0"/>
                </a:lnTo>
                <a:lnTo>
                  <a:pt x="2419425" y="1354879"/>
                </a:lnTo>
                <a:lnTo>
                  <a:pt x="0" y="1354879"/>
                </a:lnTo>
                <a:lnTo>
                  <a:pt x="0" y="0"/>
                </a:lnTo>
                <a:close/>
              </a:path>
            </a:pathLst>
          </a:custGeom>
          <a:blipFill>
            <a:blip r:embed="rId9"/>
            <a:stretch>
              <a:fillRect l="0" t="0" r="0" b="0"/>
            </a:stretch>
          </a:blipFill>
        </p:spPr>
      </p:sp>
      <p:sp>
        <p:nvSpPr>
          <p:cNvPr name="Freeform 33" id="33"/>
          <p:cNvSpPr/>
          <p:nvPr/>
        </p:nvSpPr>
        <p:spPr>
          <a:xfrm flipH="false" flipV="false" rot="0">
            <a:off x="14502988" y="2805000"/>
            <a:ext cx="1952666" cy="1394762"/>
          </a:xfrm>
          <a:custGeom>
            <a:avLst/>
            <a:gdLst/>
            <a:ahLst/>
            <a:cxnLst/>
            <a:rect r="r" b="b" t="t" l="l"/>
            <a:pathLst>
              <a:path h="1394762" w="1952666">
                <a:moveTo>
                  <a:pt x="0" y="0"/>
                </a:moveTo>
                <a:lnTo>
                  <a:pt x="1952666" y="0"/>
                </a:lnTo>
                <a:lnTo>
                  <a:pt x="1952666" y="1394761"/>
                </a:lnTo>
                <a:lnTo>
                  <a:pt x="0" y="1394761"/>
                </a:lnTo>
                <a:lnTo>
                  <a:pt x="0" y="0"/>
                </a:lnTo>
                <a:close/>
              </a:path>
            </a:pathLst>
          </a:custGeom>
          <a:blipFill>
            <a:blip r:embed="rId10"/>
            <a:stretch>
              <a:fillRect l="0" t="0" r="0" b="0"/>
            </a:stretch>
          </a:blipFill>
        </p:spPr>
      </p:sp>
      <p:sp>
        <p:nvSpPr>
          <p:cNvPr name="TextBox 34" id="34"/>
          <p:cNvSpPr txBox="true"/>
          <p:nvPr/>
        </p:nvSpPr>
        <p:spPr>
          <a:xfrm rot="0">
            <a:off x="7470697" y="687670"/>
            <a:ext cx="10015861" cy="903732"/>
          </a:xfrm>
          <a:prstGeom prst="rect">
            <a:avLst/>
          </a:prstGeom>
        </p:spPr>
        <p:txBody>
          <a:bodyPr anchor="t" rtlCol="false" tIns="0" lIns="0" bIns="0" rIns="0">
            <a:spAutoFit/>
          </a:bodyPr>
          <a:lstStyle/>
          <a:p>
            <a:pPr algn="l" marL="0" indent="0" lvl="0">
              <a:lnSpc>
                <a:spcPts val="6264"/>
              </a:lnSpc>
              <a:spcBef>
                <a:spcPct val="0"/>
              </a:spcBef>
            </a:pPr>
            <a:r>
              <a:rPr lang="en-US" b="true" sz="5400">
                <a:solidFill>
                  <a:srgbClr val="134E1A"/>
                </a:solidFill>
                <a:latin typeface="Akzidenz-Grotesk Heavy"/>
                <a:ea typeface="Akzidenz-Grotesk Heavy"/>
                <a:cs typeface="Akzidenz-Grotesk Heavy"/>
                <a:sym typeface="Akzidenz-Grotesk Heavy"/>
              </a:rPr>
              <a:t>Tools yang digunakan</a:t>
            </a:r>
          </a:p>
        </p:txBody>
      </p:sp>
      <p:sp>
        <p:nvSpPr>
          <p:cNvPr name="TextBox 35" id="35"/>
          <p:cNvSpPr txBox="true"/>
          <p:nvPr/>
        </p:nvSpPr>
        <p:spPr>
          <a:xfrm rot="0">
            <a:off x="2615874" y="3007892"/>
            <a:ext cx="4647455" cy="431798"/>
          </a:xfrm>
          <a:prstGeom prst="rect">
            <a:avLst/>
          </a:prstGeom>
        </p:spPr>
        <p:txBody>
          <a:bodyPr anchor="t" rtlCol="false" tIns="0" lIns="0" bIns="0" rIns="0">
            <a:spAutoFit/>
          </a:bodyPr>
          <a:lstStyle/>
          <a:p>
            <a:pPr algn="l">
              <a:lnSpc>
                <a:spcPts val="3500"/>
              </a:lnSpc>
            </a:pPr>
            <a:r>
              <a:rPr lang="en-US" sz="2500" b="true">
                <a:solidFill>
                  <a:srgbClr val="134E1A"/>
                </a:solidFill>
                <a:latin typeface="Aileron Bold"/>
                <a:ea typeface="Aileron Bold"/>
                <a:cs typeface="Aileron Bold"/>
                <a:sym typeface="Aileron Bold"/>
              </a:rPr>
              <a:t>Pentaho </a:t>
            </a:r>
          </a:p>
        </p:txBody>
      </p:sp>
      <p:sp>
        <p:nvSpPr>
          <p:cNvPr name="TextBox 36" id="36"/>
          <p:cNvSpPr txBox="true"/>
          <p:nvPr/>
        </p:nvSpPr>
        <p:spPr>
          <a:xfrm rot="0">
            <a:off x="2615874" y="4899026"/>
            <a:ext cx="2362628" cy="431798"/>
          </a:xfrm>
          <a:prstGeom prst="rect">
            <a:avLst/>
          </a:prstGeom>
        </p:spPr>
        <p:txBody>
          <a:bodyPr anchor="t" rtlCol="false" tIns="0" lIns="0" bIns="0" rIns="0">
            <a:spAutoFit/>
          </a:bodyPr>
          <a:lstStyle/>
          <a:p>
            <a:pPr algn="l">
              <a:lnSpc>
                <a:spcPts val="3500"/>
              </a:lnSpc>
            </a:pPr>
            <a:r>
              <a:rPr lang="en-US" sz="2500" b="true">
                <a:solidFill>
                  <a:srgbClr val="134E1A"/>
                </a:solidFill>
                <a:latin typeface="Aileron Bold"/>
                <a:ea typeface="Aileron Bold"/>
                <a:cs typeface="Aileron Bold"/>
                <a:sym typeface="Aileron Bold"/>
              </a:rPr>
              <a:t>Postgresql</a:t>
            </a:r>
          </a:p>
        </p:txBody>
      </p:sp>
      <p:sp>
        <p:nvSpPr>
          <p:cNvPr name="TextBox 37" id="37"/>
          <p:cNvSpPr txBox="true"/>
          <p:nvPr/>
        </p:nvSpPr>
        <p:spPr>
          <a:xfrm rot="0">
            <a:off x="2615874" y="7036394"/>
            <a:ext cx="3558401" cy="431798"/>
          </a:xfrm>
          <a:prstGeom prst="rect">
            <a:avLst/>
          </a:prstGeom>
        </p:spPr>
        <p:txBody>
          <a:bodyPr anchor="t" rtlCol="false" tIns="0" lIns="0" bIns="0" rIns="0">
            <a:spAutoFit/>
          </a:bodyPr>
          <a:lstStyle/>
          <a:p>
            <a:pPr algn="l">
              <a:lnSpc>
                <a:spcPts val="3500"/>
              </a:lnSpc>
            </a:pPr>
            <a:r>
              <a:rPr lang="en-US" sz="2500" b="true">
                <a:solidFill>
                  <a:srgbClr val="134E1A"/>
                </a:solidFill>
                <a:latin typeface="Aileron Bold"/>
                <a:ea typeface="Aileron Bold"/>
                <a:cs typeface="Aileron Bold"/>
                <a:sym typeface="Aileron Bold"/>
              </a:rPr>
              <a:t>Apache Spark</a:t>
            </a:r>
          </a:p>
        </p:txBody>
      </p:sp>
      <p:sp>
        <p:nvSpPr>
          <p:cNvPr name="TextBox 38" id="38"/>
          <p:cNvSpPr txBox="true"/>
          <p:nvPr/>
        </p:nvSpPr>
        <p:spPr>
          <a:xfrm rot="0">
            <a:off x="11372609" y="3342147"/>
            <a:ext cx="3558401" cy="431798"/>
          </a:xfrm>
          <a:prstGeom prst="rect">
            <a:avLst/>
          </a:prstGeom>
        </p:spPr>
        <p:txBody>
          <a:bodyPr anchor="t" rtlCol="false" tIns="0" lIns="0" bIns="0" rIns="0">
            <a:spAutoFit/>
          </a:bodyPr>
          <a:lstStyle/>
          <a:p>
            <a:pPr algn="l">
              <a:lnSpc>
                <a:spcPts val="3500"/>
              </a:lnSpc>
            </a:pPr>
            <a:r>
              <a:rPr lang="en-US" sz="2500" b="true">
                <a:solidFill>
                  <a:srgbClr val="134E1A"/>
                </a:solidFill>
                <a:latin typeface="Aileron Bold"/>
                <a:ea typeface="Aileron Bold"/>
                <a:cs typeface="Aileron Bold"/>
                <a:sym typeface="Aileron Bold"/>
              </a:rPr>
              <a:t>Apache Airflow</a:t>
            </a:r>
          </a:p>
        </p:txBody>
      </p:sp>
      <p:sp>
        <p:nvSpPr>
          <p:cNvPr name="TextBox 39" id="39"/>
          <p:cNvSpPr txBox="true"/>
          <p:nvPr/>
        </p:nvSpPr>
        <p:spPr>
          <a:xfrm rot="0">
            <a:off x="11639091" y="6021613"/>
            <a:ext cx="3558401" cy="431798"/>
          </a:xfrm>
          <a:prstGeom prst="rect">
            <a:avLst/>
          </a:prstGeom>
        </p:spPr>
        <p:txBody>
          <a:bodyPr anchor="t" rtlCol="false" tIns="0" lIns="0" bIns="0" rIns="0">
            <a:spAutoFit/>
          </a:bodyPr>
          <a:lstStyle/>
          <a:p>
            <a:pPr algn="l">
              <a:lnSpc>
                <a:spcPts val="3500"/>
              </a:lnSpc>
            </a:pPr>
            <a:r>
              <a:rPr lang="en-US" sz="2500" b="true">
                <a:solidFill>
                  <a:srgbClr val="134E1A"/>
                </a:solidFill>
                <a:latin typeface="Aileron Bold"/>
                <a:ea typeface="Aileron Bold"/>
                <a:cs typeface="Aileron Bold"/>
                <a:sym typeface="Aileron Bold"/>
              </a:rPr>
              <a:t>Power BI</a:t>
            </a:r>
          </a:p>
        </p:txBody>
      </p:sp>
      <p:sp>
        <p:nvSpPr>
          <p:cNvPr name="Freeform 40" id="40"/>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11"/>
            <a:stretch>
              <a:fillRect l="0" t="0" r="0" b="0"/>
            </a:stretch>
          </a:blipFill>
        </p:spPr>
      </p:sp>
      <p:sp>
        <p:nvSpPr>
          <p:cNvPr name="Freeform 41" id="41"/>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1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535635" y="4909627"/>
            <a:ext cx="6523106" cy="6070447"/>
            <a:chOff x="0" y="0"/>
            <a:chExt cx="1718020" cy="1598801"/>
          </a:xfrm>
        </p:grpSpPr>
        <p:sp>
          <p:nvSpPr>
            <p:cNvPr name="Freeform 3" id="3"/>
            <p:cNvSpPr/>
            <p:nvPr/>
          </p:nvSpPr>
          <p:spPr>
            <a:xfrm flipH="false" flipV="false" rot="0">
              <a:off x="0" y="0"/>
              <a:ext cx="1718020" cy="1598801"/>
            </a:xfrm>
            <a:custGeom>
              <a:avLst/>
              <a:gdLst/>
              <a:ahLst/>
              <a:cxnLst/>
              <a:rect r="r" b="b" t="t" l="l"/>
              <a:pathLst>
                <a:path h="1598801" w="1718020">
                  <a:moveTo>
                    <a:pt x="0" y="0"/>
                  </a:moveTo>
                  <a:lnTo>
                    <a:pt x="1718020" y="0"/>
                  </a:lnTo>
                  <a:lnTo>
                    <a:pt x="1718020" y="1598801"/>
                  </a:lnTo>
                  <a:lnTo>
                    <a:pt x="0" y="1598801"/>
                  </a:lnTo>
                  <a:close/>
                </a:path>
              </a:pathLst>
            </a:custGeom>
            <a:solidFill>
              <a:srgbClr val="F5F8EE"/>
            </a:solidFill>
            <a:ln cap="sq">
              <a:noFill/>
              <a:prstDash val="solid"/>
              <a:miter/>
            </a:ln>
          </p:spPr>
        </p:sp>
        <p:sp>
          <p:nvSpPr>
            <p:cNvPr name="TextBox 4" id="4"/>
            <p:cNvSpPr txBox="true"/>
            <p:nvPr/>
          </p:nvSpPr>
          <p:spPr>
            <a:xfrm>
              <a:off x="0" y="-57150"/>
              <a:ext cx="1718020" cy="1655951"/>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9258300"/>
            <a:ext cx="18288000" cy="1028700"/>
            <a:chOff x="0" y="0"/>
            <a:chExt cx="4816593" cy="270933"/>
          </a:xfrm>
        </p:grpSpPr>
        <p:sp>
          <p:nvSpPr>
            <p:cNvPr name="Freeform 6" id="6"/>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D9DFCE"/>
            </a:solidFill>
          </p:spPr>
        </p:sp>
        <p:sp>
          <p:nvSpPr>
            <p:cNvPr name="TextBox 7" id="7"/>
            <p:cNvSpPr txBox="true"/>
            <p:nvPr/>
          </p:nvSpPr>
          <p:spPr>
            <a:xfrm>
              <a:off x="0" y="-57150"/>
              <a:ext cx="4816593" cy="328083"/>
            </a:xfrm>
            <a:prstGeom prst="rect">
              <a:avLst/>
            </a:prstGeom>
          </p:spPr>
          <p:txBody>
            <a:bodyPr anchor="ctr" rtlCol="false" tIns="50800" lIns="50800" bIns="50800" rIns="50800"/>
            <a:lstStyle/>
            <a:p>
              <a:pPr algn="ctr">
                <a:lnSpc>
                  <a:spcPts val="3500"/>
                </a:lnSpc>
              </a:pPr>
            </a:p>
          </p:txBody>
        </p:sp>
      </p:grpSp>
      <p:sp>
        <p:nvSpPr>
          <p:cNvPr name="TextBox 8" id="8"/>
          <p:cNvSpPr txBox="true"/>
          <p:nvPr/>
        </p:nvSpPr>
        <p:spPr>
          <a:xfrm rot="0">
            <a:off x="8354557" y="923925"/>
            <a:ext cx="15747678" cy="1090295"/>
          </a:xfrm>
          <a:prstGeom prst="rect">
            <a:avLst/>
          </a:prstGeom>
        </p:spPr>
        <p:txBody>
          <a:bodyPr anchor="t" rtlCol="false" tIns="0" lIns="0" bIns="0" rIns="0">
            <a:spAutoFit/>
          </a:bodyPr>
          <a:lstStyle/>
          <a:p>
            <a:pPr algn="l" marL="0" indent="0" lvl="0">
              <a:lnSpc>
                <a:spcPts val="7540"/>
              </a:lnSpc>
              <a:spcBef>
                <a:spcPct val="0"/>
              </a:spcBef>
            </a:pPr>
            <a:r>
              <a:rPr lang="en-US" b="true" sz="6500">
                <a:solidFill>
                  <a:srgbClr val="134E1A"/>
                </a:solidFill>
                <a:latin typeface="Akzidenz-Grotesk Heavy"/>
                <a:ea typeface="Akzidenz-Grotesk Heavy"/>
                <a:cs typeface="Akzidenz-Grotesk Heavy"/>
                <a:sym typeface="Akzidenz-Grotesk Heavy"/>
              </a:rPr>
              <a:t>Timeline Pengerjaan</a:t>
            </a:r>
          </a:p>
        </p:txBody>
      </p:sp>
      <p:sp>
        <p:nvSpPr>
          <p:cNvPr name="Freeform 9" id="9"/>
          <p:cNvSpPr/>
          <p:nvPr/>
        </p:nvSpPr>
        <p:spPr>
          <a:xfrm flipH="false" flipV="false" rot="0">
            <a:off x="15197492" y="564369"/>
            <a:ext cx="2061808" cy="307397"/>
          </a:xfrm>
          <a:custGeom>
            <a:avLst/>
            <a:gdLst/>
            <a:ahLst/>
            <a:cxnLst/>
            <a:rect r="r" b="b" t="t" l="l"/>
            <a:pathLst>
              <a:path h="307397" w="2061808">
                <a:moveTo>
                  <a:pt x="0" y="0"/>
                </a:moveTo>
                <a:lnTo>
                  <a:pt x="2061808" y="0"/>
                </a:lnTo>
                <a:lnTo>
                  <a:pt x="2061808" y="307397"/>
                </a:lnTo>
                <a:lnTo>
                  <a:pt x="0" y="3073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251910" y="2403833"/>
            <a:ext cx="11301259" cy="5947288"/>
          </a:xfrm>
          <a:custGeom>
            <a:avLst/>
            <a:gdLst/>
            <a:ahLst/>
            <a:cxnLst/>
            <a:rect r="r" b="b" t="t" l="l"/>
            <a:pathLst>
              <a:path h="5947288" w="11301259">
                <a:moveTo>
                  <a:pt x="0" y="0"/>
                </a:moveTo>
                <a:lnTo>
                  <a:pt x="11301259" y="0"/>
                </a:lnTo>
                <a:lnTo>
                  <a:pt x="11301259" y="5947287"/>
                </a:lnTo>
                <a:lnTo>
                  <a:pt x="0" y="5947287"/>
                </a:lnTo>
                <a:lnTo>
                  <a:pt x="0" y="0"/>
                </a:lnTo>
                <a:close/>
              </a:path>
            </a:pathLst>
          </a:custGeom>
          <a:blipFill>
            <a:blip r:embed="rId4"/>
            <a:stretch>
              <a:fillRect l="0" t="0" r="0" b="0"/>
            </a:stretch>
          </a:blipFill>
        </p:spPr>
      </p:sp>
      <p:sp>
        <p:nvSpPr>
          <p:cNvPr name="Freeform 11" id="11"/>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5"/>
            <a:stretch>
              <a:fillRect l="0" t="0" r="0" b="0"/>
            </a:stretch>
          </a:blipFill>
        </p:spPr>
      </p:sp>
      <p:sp>
        <p:nvSpPr>
          <p:cNvPr name="Freeform 12" id="12"/>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212370"/>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411687"/>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387020"/>
            <a:ext cx="11301259" cy="2288505"/>
          </a:xfrm>
          <a:custGeom>
            <a:avLst/>
            <a:gdLst/>
            <a:ahLst/>
            <a:cxnLst/>
            <a:rect r="r" b="b" t="t" l="l"/>
            <a:pathLst>
              <a:path h="2288505" w="11301259">
                <a:moveTo>
                  <a:pt x="0" y="0"/>
                </a:moveTo>
                <a:lnTo>
                  <a:pt x="11301259" y="0"/>
                </a:lnTo>
                <a:lnTo>
                  <a:pt x="11301259" y="2288505"/>
                </a:lnTo>
                <a:lnTo>
                  <a:pt x="0" y="2288505"/>
                </a:lnTo>
                <a:lnTo>
                  <a:pt x="0" y="0"/>
                </a:lnTo>
                <a:close/>
              </a:path>
            </a:pathLst>
          </a:custGeom>
          <a:blipFill>
            <a:blip r:embed="rId6"/>
            <a:stretch>
              <a:fillRect l="0" t="0" r="0" b="0"/>
            </a:stretch>
          </a:blipFill>
        </p:spPr>
      </p:sp>
      <p:sp>
        <p:nvSpPr>
          <p:cNvPr name="Freeform 15" id="15"/>
          <p:cNvSpPr/>
          <p:nvPr/>
        </p:nvSpPr>
        <p:spPr>
          <a:xfrm flipH="false" flipV="false" rot="0">
            <a:off x="6286766" y="7907616"/>
            <a:ext cx="11301259" cy="1370278"/>
          </a:xfrm>
          <a:custGeom>
            <a:avLst/>
            <a:gdLst/>
            <a:ahLst/>
            <a:cxnLst/>
            <a:rect r="r" b="b" t="t" l="l"/>
            <a:pathLst>
              <a:path h="1370278" w="11301259">
                <a:moveTo>
                  <a:pt x="0" y="0"/>
                </a:moveTo>
                <a:lnTo>
                  <a:pt x="11301259" y="0"/>
                </a:lnTo>
                <a:lnTo>
                  <a:pt x="11301259" y="1370278"/>
                </a:lnTo>
                <a:lnTo>
                  <a:pt x="0" y="1370278"/>
                </a:lnTo>
                <a:lnTo>
                  <a:pt x="0" y="0"/>
                </a:lnTo>
                <a:close/>
              </a:path>
            </a:pathLst>
          </a:custGeom>
          <a:blipFill>
            <a:blip r:embed="rId7"/>
            <a:stretch>
              <a:fillRect l="0" t="0" r="0" b="0"/>
            </a:stretch>
          </a:blipFill>
        </p:spPr>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916676" y="2343676"/>
            <a:ext cx="874018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1 : Identifikasi Kebutuhan Data</a:t>
            </a:r>
          </a:p>
        </p:txBody>
      </p:sp>
      <p:sp>
        <p:nvSpPr>
          <p:cNvPr name="TextBox 18" id="18"/>
          <p:cNvSpPr txBox="true"/>
          <p:nvPr/>
        </p:nvSpPr>
        <p:spPr>
          <a:xfrm rot="0">
            <a:off x="636137" y="2694268"/>
            <a:ext cx="17333906" cy="1851892"/>
          </a:xfrm>
          <a:prstGeom prst="rect">
            <a:avLst/>
          </a:prstGeom>
        </p:spPr>
        <p:txBody>
          <a:bodyPr anchor="t" rtlCol="false" tIns="0" lIns="0" bIns="0" rIns="0">
            <a:spAutoFit/>
          </a:bodyPr>
          <a:lstStyle/>
          <a:p>
            <a:pPr algn="just">
              <a:lnSpc>
                <a:spcPts val="2927"/>
              </a:lnSpc>
              <a:spcBef>
                <a:spcPct val="0"/>
              </a:spcBef>
            </a:pPr>
          </a:p>
          <a:p>
            <a:pPr algn="just">
              <a:lnSpc>
                <a:spcPts val="2927"/>
              </a:lnSpc>
              <a:spcBef>
                <a:spcPct val="0"/>
              </a:spcBef>
            </a:pPr>
            <a:r>
              <a:rPr lang="en-US" b="true" sz="2090">
                <a:solidFill>
                  <a:srgbClr val="000000"/>
                </a:solidFill>
                <a:latin typeface="Aileron Bold"/>
                <a:ea typeface="Aileron Bold"/>
                <a:cs typeface="Aileron Bold"/>
                <a:sym typeface="Aileron Bold"/>
              </a:rPr>
              <a:t>Pada tahap ini, fokus utama adalah mencari dan mengumpulkan data yang diperlukan untuk membangun pipeline data yang sesuai. Kebutuhan data yang diidentifikasi meliputi dataset yang terdiri dari empat komponen utama, yaitu master pembeli, master pembayaran, master kambing, dan data transaksi. Dataset ini mencakup berbagai informasi terkait penjualan kambing, seperti karakteristik pembeli, metode pembayaran, jenis kambing, dan detail transaksi.</a:t>
            </a:r>
          </a:p>
        </p:txBody>
      </p:sp>
      <p:sp>
        <p:nvSpPr>
          <p:cNvPr name="TextBox 19" id="19"/>
          <p:cNvSpPr txBox="true"/>
          <p:nvPr/>
        </p:nvSpPr>
        <p:spPr>
          <a:xfrm rot="0">
            <a:off x="636137" y="4869178"/>
            <a:ext cx="874018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Data Transaksi </a:t>
            </a:r>
          </a:p>
        </p:txBody>
      </p:sp>
      <p:sp>
        <p:nvSpPr>
          <p:cNvPr name="TextBox 20" id="20"/>
          <p:cNvSpPr txBox="true"/>
          <p:nvPr/>
        </p:nvSpPr>
        <p:spPr>
          <a:xfrm rot="0">
            <a:off x="13917910" y="7386283"/>
            <a:ext cx="874018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Master Pembayaran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3734421"/>
            <a:ext cx="11301259" cy="2396545"/>
          </a:xfrm>
          <a:custGeom>
            <a:avLst/>
            <a:gdLst/>
            <a:ahLst/>
            <a:cxnLst/>
            <a:rect r="r" b="b" t="t" l="l"/>
            <a:pathLst>
              <a:path h="2396545" w="11301259">
                <a:moveTo>
                  <a:pt x="0" y="0"/>
                </a:moveTo>
                <a:lnTo>
                  <a:pt x="11301259" y="0"/>
                </a:lnTo>
                <a:lnTo>
                  <a:pt x="11301259" y="2396545"/>
                </a:lnTo>
                <a:lnTo>
                  <a:pt x="0" y="2396545"/>
                </a:lnTo>
                <a:lnTo>
                  <a:pt x="0" y="0"/>
                </a:lnTo>
                <a:close/>
              </a:path>
            </a:pathLst>
          </a:custGeom>
          <a:blipFill>
            <a:blip r:embed="rId6"/>
            <a:stretch>
              <a:fillRect l="-792" t="0" r="-792" b="0"/>
            </a:stretch>
          </a:blipFill>
        </p:spPr>
      </p:sp>
      <p:sp>
        <p:nvSpPr>
          <p:cNvPr name="Freeform 15" id="15"/>
          <p:cNvSpPr/>
          <p:nvPr/>
        </p:nvSpPr>
        <p:spPr>
          <a:xfrm flipH="false" flipV="false" rot="0">
            <a:off x="636137" y="6941542"/>
            <a:ext cx="11301259" cy="2316758"/>
          </a:xfrm>
          <a:custGeom>
            <a:avLst/>
            <a:gdLst/>
            <a:ahLst/>
            <a:cxnLst/>
            <a:rect r="r" b="b" t="t" l="l"/>
            <a:pathLst>
              <a:path h="2316758" w="11301259">
                <a:moveTo>
                  <a:pt x="0" y="0"/>
                </a:moveTo>
                <a:lnTo>
                  <a:pt x="11301259" y="0"/>
                </a:lnTo>
                <a:lnTo>
                  <a:pt x="11301259" y="2316758"/>
                </a:lnTo>
                <a:lnTo>
                  <a:pt x="0" y="2316758"/>
                </a:lnTo>
                <a:lnTo>
                  <a:pt x="0" y="0"/>
                </a:lnTo>
                <a:close/>
              </a:path>
            </a:pathLst>
          </a:custGeom>
          <a:blipFill>
            <a:blip r:embed="rId7"/>
            <a:stretch>
              <a:fillRect l="0" t="0" r="0" b="0"/>
            </a:stretch>
          </a:blipFill>
        </p:spPr>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874018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1 : Identifikasi Kebutuhan Data</a:t>
            </a:r>
          </a:p>
        </p:txBody>
      </p:sp>
      <p:sp>
        <p:nvSpPr>
          <p:cNvPr name="TextBox 18" id="18"/>
          <p:cNvSpPr txBox="true"/>
          <p:nvPr/>
        </p:nvSpPr>
        <p:spPr>
          <a:xfrm rot="0">
            <a:off x="742979" y="3213087"/>
            <a:ext cx="874018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Master Pembayaran</a:t>
            </a:r>
          </a:p>
        </p:txBody>
      </p:sp>
      <p:sp>
        <p:nvSpPr>
          <p:cNvPr name="TextBox 19" id="19"/>
          <p:cNvSpPr txBox="true"/>
          <p:nvPr/>
        </p:nvSpPr>
        <p:spPr>
          <a:xfrm rot="0">
            <a:off x="742979" y="6404392"/>
            <a:ext cx="874018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Master Kambing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3213815"/>
            <a:ext cx="9201913" cy="5657739"/>
          </a:xfrm>
          <a:custGeom>
            <a:avLst/>
            <a:gdLst/>
            <a:ahLst/>
            <a:cxnLst/>
            <a:rect r="r" b="b" t="t" l="l"/>
            <a:pathLst>
              <a:path h="5657739" w="9201913">
                <a:moveTo>
                  <a:pt x="0" y="0"/>
                </a:moveTo>
                <a:lnTo>
                  <a:pt x="9201913" y="0"/>
                </a:lnTo>
                <a:lnTo>
                  <a:pt x="9201913" y="5657739"/>
                </a:lnTo>
                <a:lnTo>
                  <a:pt x="0" y="5657739"/>
                </a:lnTo>
                <a:lnTo>
                  <a:pt x="0" y="0"/>
                </a:lnTo>
                <a:close/>
              </a:path>
            </a:pathLst>
          </a:custGeom>
          <a:blipFill>
            <a:blip r:embed="rId6"/>
            <a:stretch>
              <a:fillRect l="0" t="0" r="0" b="0"/>
            </a:stretch>
          </a:blipFill>
        </p:spPr>
      </p:sp>
      <p:sp>
        <p:nvSpPr>
          <p:cNvPr name="Freeform 15" id="15"/>
          <p:cNvSpPr/>
          <p:nvPr/>
        </p:nvSpPr>
        <p:spPr>
          <a:xfrm flipH="false" flipV="false" rot="0">
            <a:off x="11125645" y="5705475"/>
            <a:ext cx="6796213" cy="4208822"/>
          </a:xfrm>
          <a:custGeom>
            <a:avLst/>
            <a:gdLst/>
            <a:ahLst/>
            <a:cxnLst/>
            <a:rect r="r" b="b" t="t" l="l"/>
            <a:pathLst>
              <a:path h="4208822" w="6796213">
                <a:moveTo>
                  <a:pt x="0" y="0"/>
                </a:moveTo>
                <a:lnTo>
                  <a:pt x="6796213" y="0"/>
                </a:lnTo>
                <a:lnTo>
                  <a:pt x="6796213" y="4208822"/>
                </a:lnTo>
                <a:lnTo>
                  <a:pt x="0" y="4208822"/>
                </a:lnTo>
                <a:lnTo>
                  <a:pt x="0" y="0"/>
                </a:lnTo>
                <a:close/>
              </a:path>
            </a:pathLst>
          </a:custGeom>
          <a:blipFill>
            <a:blip r:embed="rId7"/>
            <a:stretch>
              <a:fillRect l="0" t="0" r="0" b="0"/>
            </a:stretch>
          </a:blipFill>
        </p:spPr>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OLTP ( Melalukan Proses ETL (Extract, Transform, Load)</a:t>
            </a:r>
          </a:p>
        </p:txBody>
      </p:sp>
      <p:sp>
        <p:nvSpPr>
          <p:cNvPr name="TextBox 18" id="18"/>
          <p:cNvSpPr txBox="true"/>
          <p:nvPr/>
        </p:nvSpPr>
        <p:spPr>
          <a:xfrm rot="0">
            <a:off x="10147764" y="3469559"/>
            <a:ext cx="7945531" cy="1809859"/>
          </a:xfrm>
          <a:prstGeom prst="rect">
            <a:avLst/>
          </a:prstGeom>
        </p:spPr>
        <p:txBody>
          <a:bodyPr anchor="t" rtlCol="false" tIns="0" lIns="0" bIns="0" rIns="0">
            <a:spAutoFit/>
          </a:bodyPr>
          <a:lstStyle/>
          <a:p>
            <a:pPr algn="l">
              <a:lnSpc>
                <a:spcPts val="3668"/>
              </a:lnSpc>
            </a:pPr>
            <a:r>
              <a:rPr lang="en-US" sz="2620" b="true">
                <a:solidFill>
                  <a:srgbClr val="000000"/>
                </a:solidFill>
                <a:latin typeface="Open Sans Bold"/>
                <a:ea typeface="Open Sans Bold"/>
                <a:cs typeface="Open Sans Bold"/>
                <a:sym typeface="Open Sans Bold"/>
              </a:rPr>
              <a:t>disini terdapat proses ETL dari Data Transaksi</a:t>
            </a:r>
          </a:p>
          <a:p>
            <a:pPr algn="l">
              <a:lnSpc>
                <a:spcPts val="3668"/>
              </a:lnSpc>
            </a:pPr>
            <a:r>
              <a:rPr lang="en-US" sz="2620" b="true">
                <a:solidFill>
                  <a:srgbClr val="000000"/>
                </a:solidFill>
                <a:latin typeface="Open Sans Bold"/>
                <a:ea typeface="Open Sans Bold"/>
                <a:cs typeface="Open Sans Bold"/>
                <a:sym typeface="Open Sans Bold"/>
              </a:rPr>
              <a:t>yaitu  sort rows, replace in string, string operations, modivfed javascript value, select values, dan insert/update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324130" y="3567378"/>
            <a:ext cx="10639758" cy="6275795"/>
          </a:xfrm>
          <a:custGeom>
            <a:avLst/>
            <a:gdLst/>
            <a:ahLst/>
            <a:cxnLst/>
            <a:rect r="r" b="b" t="t" l="l"/>
            <a:pathLst>
              <a:path h="6275795" w="10639758">
                <a:moveTo>
                  <a:pt x="0" y="0"/>
                </a:moveTo>
                <a:lnTo>
                  <a:pt x="10639758" y="0"/>
                </a:lnTo>
                <a:lnTo>
                  <a:pt x="10639758" y="6275795"/>
                </a:lnTo>
                <a:lnTo>
                  <a:pt x="0" y="6275795"/>
                </a:lnTo>
                <a:lnTo>
                  <a:pt x="0" y="0"/>
                </a:lnTo>
                <a:close/>
              </a:path>
            </a:pathLst>
          </a:custGeom>
          <a:blipFill>
            <a:blip r:embed="rId6"/>
            <a:stretch>
              <a:fillRect l="0" t="0" r="0" b="0"/>
            </a:stretch>
          </a:blipFill>
        </p:spPr>
      </p:sp>
      <p:sp>
        <p:nvSpPr>
          <p:cNvPr name="Freeform 15" id="15"/>
          <p:cNvSpPr/>
          <p:nvPr/>
        </p:nvSpPr>
        <p:spPr>
          <a:xfrm flipH="false" flipV="false" rot="0">
            <a:off x="11385684" y="6134249"/>
            <a:ext cx="6751026" cy="3930719"/>
          </a:xfrm>
          <a:custGeom>
            <a:avLst/>
            <a:gdLst/>
            <a:ahLst/>
            <a:cxnLst/>
            <a:rect r="r" b="b" t="t" l="l"/>
            <a:pathLst>
              <a:path h="3930719" w="6751026">
                <a:moveTo>
                  <a:pt x="0" y="0"/>
                </a:moveTo>
                <a:lnTo>
                  <a:pt x="6751026" y="0"/>
                </a:lnTo>
                <a:lnTo>
                  <a:pt x="6751026" y="3930718"/>
                </a:lnTo>
                <a:lnTo>
                  <a:pt x="0" y="3930718"/>
                </a:lnTo>
                <a:lnTo>
                  <a:pt x="0" y="0"/>
                </a:lnTo>
                <a:close/>
              </a:path>
            </a:pathLst>
          </a:custGeom>
          <a:blipFill>
            <a:blip r:embed="rId7"/>
            <a:stretch>
              <a:fillRect l="0" t="0" r="0" b="0"/>
            </a:stretch>
          </a:blipFill>
        </p:spPr>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1064259"/>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OLTP ( Melalukan Proses ETL (Extract, Transform, Load) pada data master pembayaran, master kambing, dan master pembeli</a:t>
            </a:r>
          </a:p>
        </p:txBody>
      </p:sp>
      <p:sp>
        <p:nvSpPr>
          <p:cNvPr name="TextBox 18" id="18"/>
          <p:cNvSpPr txBox="true"/>
          <p:nvPr/>
        </p:nvSpPr>
        <p:spPr>
          <a:xfrm rot="0">
            <a:off x="11517939" y="5086350"/>
            <a:ext cx="7047457"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 javascript di ETL master kambing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5" id="15"/>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Pemindahan data dari Pentaho ke DBvear untuk database</a:t>
            </a:r>
          </a:p>
        </p:txBody>
      </p:sp>
      <p:sp>
        <p:nvSpPr>
          <p:cNvPr name="Freeform 16" id="16"/>
          <p:cNvSpPr/>
          <p:nvPr/>
        </p:nvSpPr>
        <p:spPr>
          <a:xfrm flipH="false" flipV="false" rot="0">
            <a:off x="9402826" y="4272122"/>
            <a:ext cx="8687410" cy="4866307"/>
          </a:xfrm>
          <a:custGeom>
            <a:avLst/>
            <a:gdLst/>
            <a:ahLst/>
            <a:cxnLst/>
            <a:rect r="r" b="b" t="t" l="l"/>
            <a:pathLst>
              <a:path h="4866307" w="8687410">
                <a:moveTo>
                  <a:pt x="0" y="0"/>
                </a:moveTo>
                <a:lnTo>
                  <a:pt x="8687409" y="0"/>
                </a:lnTo>
                <a:lnTo>
                  <a:pt x="8687409" y="4866307"/>
                </a:lnTo>
                <a:lnTo>
                  <a:pt x="0" y="4866307"/>
                </a:lnTo>
                <a:lnTo>
                  <a:pt x="0" y="0"/>
                </a:lnTo>
                <a:close/>
              </a:path>
            </a:pathLst>
          </a:custGeom>
          <a:blipFill>
            <a:blip r:embed="rId6"/>
            <a:stretch>
              <a:fillRect l="0" t="0" r="0" b="0"/>
            </a:stretch>
          </a:blipFill>
        </p:spPr>
      </p:sp>
      <p:sp>
        <p:nvSpPr>
          <p:cNvPr name="Freeform 17" id="17"/>
          <p:cNvSpPr/>
          <p:nvPr/>
        </p:nvSpPr>
        <p:spPr>
          <a:xfrm flipH="false" flipV="false" rot="0">
            <a:off x="0" y="4930293"/>
            <a:ext cx="9165011" cy="3549965"/>
          </a:xfrm>
          <a:custGeom>
            <a:avLst/>
            <a:gdLst/>
            <a:ahLst/>
            <a:cxnLst/>
            <a:rect r="r" b="b" t="t" l="l"/>
            <a:pathLst>
              <a:path h="3549965" w="9165011">
                <a:moveTo>
                  <a:pt x="0" y="0"/>
                </a:moveTo>
                <a:lnTo>
                  <a:pt x="9165011" y="0"/>
                </a:lnTo>
                <a:lnTo>
                  <a:pt x="9165011" y="3549965"/>
                </a:lnTo>
                <a:lnTo>
                  <a:pt x="0" y="3549965"/>
                </a:lnTo>
                <a:lnTo>
                  <a:pt x="0" y="0"/>
                </a:lnTo>
                <a:close/>
              </a:path>
            </a:pathLst>
          </a:custGeom>
          <a:blipFill>
            <a:blip r:embed="rId7"/>
            <a:stretch>
              <a:fillRect l="0" t="-16974"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722209" y="3283232"/>
            <a:ext cx="7708268" cy="6358726"/>
          </a:xfrm>
          <a:custGeom>
            <a:avLst/>
            <a:gdLst/>
            <a:ahLst/>
            <a:cxnLst/>
            <a:rect r="r" b="b" t="t" l="l"/>
            <a:pathLst>
              <a:path h="6358726" w="7708268">
                <a:moveTo>
                  <a:pt x="0" y="0"/>
                </a:moveTo>
                <a:lnTo>
                  <a:pt x="7708268" y="0"/>
                </a:lnTo>
                <a:lnTo>
                  <a:pt x="7708268" y="6358726"/>
                </a:lnTo>
                <a:lnTo>
                  <a:pt x="0" y="6358726"/>
                </a:lnTo>
                <a:lnTo>
                  <a:pt x="0" y="0"/>
                </a:lnTo>
                <a:close/>
              </a:path>
            </a:pathLst>
          </a:custGeom>
          <a:blipFill>
            <a:blip r:embed="rId6"/>
            <a:stretch>
              <a:fillRect l="0" t="0" r="0" b="0"/>
            </a:stretch>
          </a:blipFill>
        </p:spPr>
      </p:sp>
      <p:sp>
        <p:nvSpPr>
          <p:cNvPr name="TextBox 15" id="15"/>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6" id="16"/>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Pemindahan data dari Pentaho ke DBvear untuk database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9144000" y="3517695"/>
            <a:ext cx="8650764" cy="5283252"/>
          </a:xfrm>
          <a:custGeom>
            <a:avLst/>
            <a:gdLst/>
            <a:ahLst/>
            <a:cxnLst/>
            <a:rect r="r" b="b" t="t" l="l"/>
            <a:pathLst>
              <a:path h="5283252" w="8650764">
                <a:moveTo>
                  <a:pt x="0" y="0"/>
                </a:moveTo>
                <a:lnTo>
                  <a:pt x="8650764" y="0"/>
                </a:lnTo>
                <a:lnTo>
                  <a:pt x="8650764" y="5283252"/>
                </a:lnTo>
                <a:lnTo>
                  <a:pt x="0" y="5283252"/>
                </a:lnTo>
                <a:lnTo>
                  <a:pt x="0" y="0"/>
                </a:lnTo>
                <a:close/>
              </a:path>
            </a:pathLst>
          </a:custGeom>
          <a:blipFill>
            <a:blip r:embed="rId6"/>
            <a:stretch>
              <a:fillRect l="0" t="0" r="0" b="0"/>
            </a:stretch>
          </a:blipFill>
        </p:spPr>
      </p:sp>
      <p:sp>
        <p:nvSpPr>
          <p:cNvPr name="TextBox 15" id="15"/>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6" id="16"/>
          <p:cNvSpPr txBox="true"/>
          <p:nvPr/>
        </p:nvSpPr>
        <p:spPr>
          <a:xfrm rot="0">
            <a:off x="1733672" y="2281506"/>
            <a:ext cx="14500941" cy="521361"/>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Pemindahan data dari Pentaho ke DBvear untuk database(HASIL)</a:t>
            </a:r>
          </a:p>
        </p:txBody>
      </p:sp>
      <p:sp>
        <p:nvSpPr>
          <p:cNvPr name="Freeform 17" id="17"/>
          <p:cNvSpPr/>
          <p:nvPr/>
        </p:nvSpPr>
        <p:spPr>
          <a:xfrm flipH="false" flipV="false" rot="0">
            <a:off x="996965" y="3335817"/>
            <a:ext cx="7051726" cy="6067124"/>
          </a:xfrm>
          <a:custGeom>
            <a:avLst/>
            <a:gdLst/>
            <a:ahLst/>
            <a:cxnLst/>
            <a:rect r="r" b="b" t="t" l="l"/>
            <a:pathLst>
              <a:path h="6067124" w="7051726">
                <a:moveTo>
                  <a:pt x="0" y="0"/>
                </a:moveTo>
                <a:lnTo>
                  <a:pt x="7051726" y="0"/>
                </a:lnTo>
                <a:lnTo>
                  <a:pt x="7051726" y="6067124"/>
                </a:lnTo>
                <a:lnTo>
                  <a:pt x="0" y="6067124"/>
                </a:lnTo>
                <a:lnTo>
                  <a:pt x="0" y="0"/>
                </a:lnTo>
                <a:close/>
              </a:path>
            </a:pathLst>
          </a:custGeom>
          <a:blipFill>
            <a:blip r:embed="rId7"/>
            <a:stretch>
              <a:fillRect l="0" t="0" r="0" b="-4218"/>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5" id="15"/>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Pemindahan data dari Pentaho ke DBvear untuk database</a:t>
            </a:r>
          </a:p>
        </p:txBody>
      </p:sp>
      <p:sp>
        <p:nvSpPr>
          <p:cNvPr name="Freeform 16" id="16"/>
          <p:cNvSpPr/>
          <p:nvPr/>
        </p:nvSpPr>
        <p:spPr>
          <a:xfrm flipH="false" flipV="false" rot="0">
            <a:off x="742979" y="5490540"/>
            <a:ext cx="4144000" cy="2023530"/>
          </a:xfrm>
          <a:custGeom>
            <a:avLst/>
            <a:gdLst/>
            <a:ahLst/>
            <a:cxnLst/>
            <a:rect r="r" b="b" t="t" l="l"/>
            <a:pathLst>
              <a:path h="2023530" w="4144000">
                <a:moveTo>
                  <a:pt x="0" y="0"/>
                </a:moveTo>
                <a:lnTo>
                  <a:pt x="4144000" y="0"/>
                </a:lnTo>
                <a:lnTo>
                  <a:pt x="4144000" y="2023531"/>
                </a:lnTo>
                <a:lnTo>
                  <a:pt x="0" y="2023531"/>
                </a:lnTo>
                <a:lnTo>
                  <a:pt x="0" y="0"/>
                </a:lnTo>
                <a:close/>
              </a:path>
            </a:pathLst>
          </a:custGeom>
          <a:blipFill>
            <a:blip r:embed="rId6"/>
            <a:stretch>
              <a:fillRect l="0" t="-71249" r="0" b="-142989"/>
            </a:stretch>
          </a:blipFill>
        </p:spPr>
      </p:sp>
      <p:sp>
        <p:nvSpPr>
          <p:cNvPr name="Freeform 17" id="17"/>
          <p:cNvSpPr/>
          <p:nvPr/>
        </p:nvSpPr>
        <p:spPr>
          <a:xfrm flipH="false" flipV="false" rot="0">
            <a:off x="6501208" y="3432569"/>
            <a:ext cx="7357375" cy="4664694"/>
          </a:xfrm>
          <a:custGeom>
            <a:avLst/>
            <a:gdLst/>
            <a:ahLst/>
            <a:cxnLst/>
            <a:rect r="r" b="b" t="t" l="l"/>
            <a:pathLst>
              <a:path h="4664694" w="7357375">
                <a:moveTo>
                  <a:pt x="0" y="0"/>
                </a:moveTo>
                <a:lnTo>
                  <a:pt x="7357375" y="0"/>
                </a:lnTo>
                <a:lnTo>
                  <a:pt x="7357375" y="4664693"/>
                </a:lnTo>
                <a:lnTo>
                  <a:pt x="0" y="4664693"/>
                </a:lnTo>
                <a:lnTo>
                  <a:pt x="0" y="0"/>
                </a:lnTo>
                <a:close/>
              </a:path>
            </a:pathLst>
          </a:custGeom>
          <a:blipFill>
            <a:blip r:embed="rId7"/>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038752" y="6705276"/>
            <a:ext cx="6630790" cy="3581724"/>
            <a:chOff x="0" y="0"/>
            <a:chExt cx="1746381" cy="943335"/>
          </a:xfrm>
        </p:grpSpPr>
        <p:sp>
          <p:nvSpPr>
            <p:cNvPr name="Freeform 3" id="3"/>
            <p:cNvSpPr/>
            <p:nvPr/>
          </p:nvSpPr>
          <p:spPr>
            <a:xfrm flipH="false" flipV="false" rot="0">
              <a:off x="0" y="0"/>
              <a:ext cx="1746381" cy="943335"/>
            </a:xfrm>
            <a:custGeom>
              <a:avLst/>
              <a:gdLst/>
              <a:ahLst/>
              <a:cxnLst/>
              <a:rect r="r" b="b" t="t" l="l"/>
              <a:pathLst>
                <a:path h="943335" w="1746381">
                  <a:moveTo>
                    <a:pt x="0" y="0"/>
                  </a:moveTo>
                  <a:lnTo>
                    <a:pt x="1746381" y="0"/>
                  </a:lnTo>
                  <a:lnTo>
                    <a:pt x="1746381" y="943335"/>
                  </a:lnTo>
                  <a:lnTo>
                    <a:pt x="0" y="943335"/>
                  </a:lnTo>
                  <a:close/>
                </a:path>
              </a:pathLst>
            </a:custGeom>
            <a:solidFill>
              <a:srgbClr val="F5F8EE"/>
            </a:solidFill>
            <a:ln cap="sq">
              <a:noFill/>
              <a:prstDash val="solid"/>
              <a:miter/>
            </a:ln>
          </p:spPr>
        </p:sp>
        <p:sp>
          <p:nvSpPr>
            <p:cNvPr name="TextBox 4" id="4"/>
            <p:cNvSpPr txBox="true"/>
            <p:nvPr/>
          </p:nvSpPr>
          <p:spPr>
            <a:xfrm>
              <a:off x="0" y="-57150"/>
              <a:ext cx="1746381" cy="1000485"/>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0" y="0"/>
            <a:ext cx="18288000" cy="3926821"/>
            <a:chOff x="0" y="0"/>
            <a:chExt cx="4816593" cy="1034225"/>
          </a:xfrm>
        </p:grpSpPr>
        <p:sp>
          <p:nvSpPr>
            <p:cNvPr name="Freeform 6" id="6"/>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7" id="7"/>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7669542" y="4180344"/>
            <a:ext cx="9880388" cy="5516264"/>
          </a:xfrm>
          <a:custGeom>
            <a:avLst/>
            <a:gdLst/>
            <a:ahLst/>
            <a:cxnLst/>
            <a:rect r="r" b="b" t="t" l="l"/>
            <a:pathLst>
              <a:path h="5516264" w="9880388">
                <a:moveTo>
                  <a:pt x="0" y="0"/>
                </a:moveTo>
                <a:lnTo>
                  <a:pt x="9880388" y="0"/>
                </a:lnTo>
                <a:lnTo>
                  <a:pt x="9880388" y="5516264"/>
                </a:lnTo>
                <a:lnTo>
                  <a:pt x="0" y="5516264"/>
                </a:lnTo>
                <a:lnTo>
                  <a:pt x="0" y="0"/>
                </a:lnTo>
                <a:close/>
              </a:path>
            </a:pathLst>
          </a:custGeom>
          <a:blipFill>
            <a:blip r:embed="rId6"/>
            <a:stretch>
              <a:fillRect l="0" t="-165" r="0" b="-165"/>
            </a:stretch>
          </a:blipFill>
        </p:spPr>
      </p:sp>
      <p:sp>
        <p:nvSpPr>
          <p:cNvPr name="TextBox 15" id="15"/>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6" id="16"/>
          <p:cNvSpPr txBox="true"/>
          <p:nvPr/>
        </p:nvSpPr>
        <p:spPr>
          <a:xfrm rot="0">
            <a:off x="1733672" y="2281506"/>
            <a:ext cx="14500941" cy="521361"/>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2 : Pemindahan data dari Pentaho ke DBvear untuk database(HASIL)</a:t>
            </a:r>
          </a:p>
        </p:txBody>
      </p:sp>
      <p:sp>
        <p:nvSpPr>
          <p:cNvPr name="Freeform 17" id="17"/>
          <p:cNvSpPr/>
          <p:nvPr/>
        </p:nvSpPr>
        <p:spPr>
          <a:xfrm flipH="false" flipV="false" rot="0">
            <a:off x="1599709" y="5618764"/>
            <a:ext cx="4726218" cy="2173023"/>
          </a:xfrm>
          <a:custGeom>
            <a:avLst/>
            <a:gdLst/>
            <a:ahLst/>
            <a:cxnLst/>
            <a:rect r="r" b="b" t="t" l="l"/>
            <a:pathLst>
              <a:path h="2173023" w="4726218">
                <a:moveTo>
                  <a:pt x="0" y="0"/>
                </a:moveTo>
                <a:lnTo>
                  <a:pt x="4726218" y="0"/>
                </a:lnTo>
                <a:lnTo>
                  <a:pt x="4726218" y="2173023"/>
                </a:lnTo>
                <a:lnTo>
                  <a:pt x="0" y="2173023"/>
                </a:lnTo>
                <a:lnTo>
                  <a:pt x="0" y="0"/>
                </a:lnTo>
                <a:close/>
              </a:path>
            </a:pathLst>
          </a:custGeom>
          <a:blipFill>
            <a:blip r:embed="rId7"/>
            <a:stretch>
              <a:fillRect l="0" t="0" r="0" b="-178007"/>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TextBox 8" id="8"/>
          <p:cNvSpPr txBox="true"/>
          <p:nvPr/>
        </p:nvSpPr>
        <p:spPr>
          <a:xfrm rot="0">
            <a:off x="1217833" y="3487304"/>
            <a:ext cx="15863557" cy="525144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Dalam proyek ini, kami melakukan analisis mendalam terhadap data penjualan untuk memperoleh wawasan yang dapat mendukung pengambilan keputusan strategis. Fokus analisis meliputi:</a:t>
            </a:r>
          </a:p>
          <a:p>
            <a:pPr algn="just">
              <a:lnSpc>
                <a:spcPts val="3500"/>
              </a:lnSpc>
            </a:pPr>
          </a:p>
          <a:p>
            <a:pPr algn="just">
              <a:lnSpc>
                <a:spcPts val="3500"/>
              </a:lnSpc>
            </a:pPr>
            <a:r>
              <a:rPr lang="en-US" sz="2500" b="true">
                <a:solidFill>
                  <a:srgbClr val="322A2A"/>
                </a:solidFill>
                <a:latin typeface="Aileron Ultra-Bold"/>
                <a:ea typeface="Aileron Ultra-Bold"/>
                <a:cs typeface="Aileron Ultra-Bold"/>
                <a:sym typeface="Aileron Ultra-Bold"/>
              </a:rPr>
              <a:t>1. Pola penjualan berdasarkan metode transaksi, jenis transaksi, usia pembeli, dan status transaksi </a:t>
            </a:r>
          </a:p>
          <a:p>
            <a:pPr algn="just">
              <a:lnSpc>
                <a:spcPts val="3500"/>
              </a:lnSpc>
            </a:pPr>
            <a:r>
              <a:rPr lang="en-US" sz="2500" b="true">
                <a:solidFill>
                  <a:srgbClr val="322A2A"/>
                </a:solidFill>
                <a:latin typeface="Aileron Ultra-Bold"/>
                <a:ea typeface="Aileron Ultra-Bold"/>
                <a:cs typeface="Aileron Ultra-Bold"/>
                <a:sym typeface="Aileron Ultra-Bold"/>
              </a:rPr>
              <a:t>2. Tren penjualan per bulan di tahun 2024 </a:t>
            </a:r>
          </a:p>
          <a:p>
            <a:pPr algn="just">
              <a:lnSpc>
                <a:spcPts val="3500"/>
              </a:lnSpc>
            </a:pPr>
            <a:r>
              <a:rPr lang="en-US" sz="2500" b="true">
                <a:solidFill>
                  <a:srgbClr val="322A2A"/>
                </a:solidFill>
                <a:latin typeface="Aileron Ultra-Bold"/>
                <a:ea typeface="Aileron Ultra-Bold"/>
                <a:cs typeface="Aileron Ultra-Bold"/>
                <a:sym typeface="Aileron Ultra-Bold"/>
              </a:rPr>
              <a:t>3. Rata-rata harga kambing per jenis</a:t>
            </a:r>
          </a:p>
          <a:p>
            <a:pPr algn="just">
              <a:lnSpc>
                <a:spcPts val="3500"/>
              </a:lnSpc>
            </a:pPr>
          </a:p>
          <a:p>
            <a:pPr algn="just">
              <a:lnSpc>
                <a:spcPts val="3500"/>
              </a:lnSpc>
            </a:pPr>
            <a:r>
              <a:rPr lang="en-US" sz="2500" b="true">
                <a:solidFill>
                  <a:srgbClr val="322A2A"/>
                </a:solidFill>
                <a:latin typeface="Aileron Ultra-Bold"/>
                <a:ea typeface="Aileron Ultra-Bold"/>
                <a:cs typeface="Aileron Ultra-Bold"/>
                <a:sym typeface="Aileron Ultra-Bold"/>
              </a:rPr>
              <a:t>Dalam proyek ini, kami melakukan analisis mendalam terhadap data penjualan untuk memperoleh wawasan strategis. Analisis dilakukan dengan menggunakan PySpark untuk pemrosesan data besar secara efisien, Airflow untuk mengorkestrasi pipeline analisis, dan hasil akhirnya disimpan dalam PostgreSQL dan file CSV sebagai output.</a:t>
            </a:r>
          </a:p>
          <a:p>
            <a:pPr algn="just">
              <a:lnSpc>
                <a:spcPts val="3500"/>
              </a:lnSpc>
            </a:pPr>
          </a:p>
        </p:txBody>
      </p:sp>
      <p:sp>
        <p:nvSpPr>
          <p:cNvPr name="TextBox 9" id="9"/>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Freeform 10" id="10"/>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11" id="11"/>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2" id="12"/>
          <p:cNvGrpSpPr/>
          <p:nvPr/>
        </p:nvGrpSpPr>
        <p:grpSpPr>
          <a:xfrm rot="0">
            <a:off x="742979" y="2139339"/>
            <a:ext cx="728840" cy="72884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5" id="15"/>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762247"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937295" y="3053551"/>
            <a:ext cx="9527795" cy="6204749"/>
          </a:xfrm>
          <a:custGeom>
            <a:avLst/>
            <a:gdLst/>
            <a:ahLst/>
            <a:cxnLst/>
            <a:rect r="r" b="b" t="t" l="l"/>
            <a:pathLst>
              <a:path h="6204749" w="9527795">
                <a:moveTo>
                  <a:pt x="0" y="0"/>
                </a:moveTo>
                <a:lnTo>
                  <a:pt x="9527795" y="0"/>
                </a:lnTo>
                <a:lnTo>
                  <a:pt x="9527795" y="6204749"/>
                </a:lnTo>
                <a:lnTo>
                  <a:pt x="0" y="6204749"/>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Dalam PySpark</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7250861" y="3084172"/>
            <a:ext cx="8983753" cy="6174128"/>
          </a:xfrm>
          <a:custGeom>
            <a:avLst/>
            <a:gdLst/>
            <a:ahLst/>
            <a:cxnLst/>
            <a:rect r="r" b="b" t="t" l="l"/>
            <a:pathLst>
              <a:path h="6174128" w="8983753">
                <a:moveTo>
                  <a:pt x="0" y="0"/>
                </a:moveTo>
                <a:lnTo>
                  <a:pt x="8983752" y="0"/>
                </a:lnTo>
                <a:lnTo>
                  <a:pt x="8983752" y="6174128"/>
                </a:lnTo>
                <a:lnTo>
                  <a:pt x="0" y="6174128"/>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Dalam PySpark</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454824" y="3926821"/>
            <a:ext cx="12033062" cy="6129341"/>
          </a:xfrm>
          <a:custGeom>
            <a:avLst/>
            <a:gdLst/>
            <a:ahLst/>
            <a:cxnLst/>
            <a:rect r="r" b="b" t="t" l="l"/>
            <a:pathLst>
              <a:path h="6129341" w="12033062">
                <a:moveTo>
                  <a:pt x="0" y="0"/>
                </a:moveTo>
                <a:lnTo>
                  <a:pt x="12033061" y="0"/>
                </a:lnTo>
                <a:lnTo>
                  <a:pt x="12033061" y="6129341"/>
                </a:lnTo>
                <a:lnTo>
                  <a:pt x="0" y="6129341"/>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Dalam PySpark</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438814" y="3302050"/>
            <a:ext cx="11642577" cy="6235779"/>
          </a:xfrm>
          <a:custGeom>
            <a:avLst/>
            <a:gdLst/>
            <a:ahLst/>
            <a:cxnLst/>
            <a:rect r="r" b="b" t="t" l="l"/>
            <a:pathLst>
              <a:path h="6235779" w="11642577">
                <a:moveTo>
                  <a:pt x="0" y="0"/>
                </a:moveTo>
                <a:lnTo>
                  <a:pt x="11642576" y="0"/>
                </a:lnTo>
                <a:lnTo>
                  <a:pt x="11642576" y="6235779"/>
                </a:lnTo>
                <a:lnTo>
                  <a:pt x="0" y="6235779"/>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Dalam PySpark</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669461" y="3289317"/>
            <a:ext cx="11589839" cy="5681108"/>
          </a:xfrm>
          <a:custGeom>
            <a:avLst/>
            <a:gdLst/>
            <a:ahLst/>
            <a:cxnLst/>
            <a:rect r="r" b="b" t="t" l="l"/>
            <a:pathLst>
              <a:path h="5681108" w="11589839">
                <a:moveTo>
                  <a:pt x="0" y="0"/>
                </a:moveTo>
                <a:lnTo>
                  <a:pt x="11589839" y="0"/>
                </a:lnTo>
                <a:lnTo>
                  <a:pt x="11589839" y="5681108"/>
                </a:lnTo>
                <a:lnTo>
                  <a:pt x="0" y="5681108"/>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Dalam PySpark</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780131" y="3544454"/>
            <a:ext cx="11301259" cy="5452857"/>
          </a:xfrm>
          <a:custGeom>
            <a:avLst/>
            <a:gdLst/>
            <a:ahLst/>
            <a:cxnLst/>
            <a:rect r="r" b="b" t="t" l="l"/>
            <a:pathLst>
              <a:path h="5452857" w="11301259">
                <a:moveTo>
                  <a:pt x="0" y="0"/>
                </a:moveTo>
                <a:lnTo>
                  <a:pt x="11301259" y="0"/>
                </a:lnTo>
                <a:lnTo>
                  <a:pt x="11301259" y="5452857"/>
                </a:lnTo>
                <a:lnTo>
                  <a:pt x="0" y="5452857"/>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Dalam PySpark</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4933354" y="3544454"/>
            <a:ext cx="11301259" cy="4449871"/>
          </a:xfrm>
          <a:custGeom>
            <a:avLst/>
            <a:gdLst/>
            <a:ahLst/>
            <a:cxnLst/>
            <a:rect r="r" b="b" t="t" l="l"/>
            <a:pathLst>
              <a:path h="4449871" w="11301259">
                <a:moveTo>
                  <a:pt x="0" y="0"/>
                </a:moveTo>
                <a:lnTo>
                  <a:pt x="11301259" y="0"/>
                </a:lnTo>
                <a:lnTo>
                  <a:pt x="11301259" y="4449871"/>
                </a:lnTo>
                <a:lnTo>
                  <a:pt x="0" y="4449871"/>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Dag Airflow Analisis</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090470" y="3660090"/>
            <a:ext cx="11990920" cy="3327480"/>
          </a:xfrm>
          <a:custGeom>
            <a:avLst/>
            <a:gdLst/>
            <a:ahLst/>
            <a:cxnLst/>
            <a:rect r="r" b="b" t="t" l="l"/>
            <a:pathLst>
              <a:path h="3327480" w="11990920">
                <a:moveTo>
                  <a:pt x="0" y="0"/>
                </a:moveTo>
                <a:lnTo>
                  <a:pt x="11990920" y="0"/>
                </a:lnTo>
                <a:lnTo>
                  <a:pt x="11990920" y="3327480"/>
                </a:lnTo>
                <a:lnTo>
                  <a:pt x="0" y="3327480"/>
                </a:lnTo>
                <a:lnTo>
                  <a:pt x="0" y="0"/>
                </a:lnTo>
                <a:close/>
              </a:path>
            </a:pathLst>
          </a:custGeom>
          <a:blipFill>
            <a:blip r:embed="rId6"/>
            <a:stretch>
              <a:fillRect l="0"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Dag Airflow Analisis</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2980365" y="4669771"/>
            <a:ext cx="12327271" cy="3015884"/>
          </a:xfrm>
          <a:custGeom>
            <a:avLst/>
            <a:gdLst/>
            <a:ahLst/>
            <a:cxnLst/>
            <a:rect r="r" b="b" t="t" l="l"/>
            <a:pathLst>
              <a:path h="3015884" w="12327271">
                <a:moveTo>
                  <a:pt x="0" y="0"/>
                </a:moveTo>
                <a:lnTo>
                  <a:pt x="12327270" y="0"/>
                </a:lnTo>
                <a:lnTo>
                  <a:pt x="12327270" y="3015884"/>
                </a:lnTo>
                <a:lnTo>
                  <a:pt x="0" y="3015884"/>
                </a:lnTo>
                <a:lnTo>
                  <a:pt x="0" y="0"/>
                </a:lnTo>
                <a:close/>
              </a:path>
            </a:pathLst>
          </a:custGeom>
          <a:blipFill>
            <a:blip r:embed="rId6"/>
            <a:stretch>
              <a:fillRect l="-39794" t="-102133"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Dag Airflow Analisis</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057954" y="3245194"/>
            <a:ext cx="9201346" cy="6265308"/>
          </a:xfrm>
          <a:custGeom>
            <a:avLst/>
            <a:gdLst/>
            <a:ahLst/>
            <a:cxnLst/>
            <a:rect r="r" b="b" t="t" l="l"/>
            <a:pathLst>
              <a:path h="6265308" w="9201346">
                <a:moveTo>
                  <a:pt x="0" y="0"/>
                </a:moveTo>
                <a:lnTo>
                  <a:pt x="9201346" y="0"/>
                </a:lnTo>
                <a:lnTo>
                  <a:pt x="9201346" y="6265308"/>
                </a:lnTo>
                <a:lnTo>
                  <a:pt x="0" y="6265308"/>
                </a:lnTo>
                <a:lnTo>
                  <a:pt x="0" y="0"/>
                </a:lnTo>
                <a:close/>
              </a:path>
            </a:pathLst>
          </a:custGeom>
          <a:blipFill>
            <a:blip r:embed="rId6"/>
            <a:stretch>
              <a:fillRect l="-36182"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Hasil Dalam PostgreSQL : </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
        <p:nvSpPr>
          <p:cNvPr name="TextBox 18" id="18"/>
          <p:cNvSpPr txBox="true"/>
          <p:nvPr/>
        </p:nvSpPr>
        <p:spPr>
          <a:xfrm rot="0">
            <a:off x="742979" y="4385225"/>
            <a:ext cx="13684010" cy="758275"/>
          </a:xfrm>
          <a:prstGeom prst="rect">
            <a:avLst/>
          </a:prstGeom>
        </p:spPr>
        <p:txBody>
          <a:bodyPr anchor="t" rtlCol="false" tIns="0" lIns="0" bIns="0" rIns="0">
            <a:spAutoFit/>
          </a:bodyPr>
          <a:lstStyle/>
          <a:p>
            <a:pPr algn="just">
              <a:lnSpc>
                <a:spcPts val="3019"/>
              </a:lnSpc>
            </a:pPr>
            <a:r>
              <a:rPr lang="en-US" sz="2156" b="true">
                <a:solidFill>
                  <a:srgbClr val="322A2A"/>
                </a:solidFill>
                <a:latin typeface="Aileron Ultra-Bold"/>
                <a:ea typeface="Aileron Ultra-Bold"/>
                <a:cs typeface="Aileron Ultra-Bold"/>
                <a:sym typeface="Aileron Ultra-Bold"/>
              </a:rPr>
              <a:t>1. Pola penjualan berdasarkan metode transaksi, </a:t>
            </a:r>
          </a:p>
          <a:p>
            <a:pPr algn="just">
              <a:lnSpc>
                <a:spcPts val="3019"/>
              </a:lnSpc>
            </a:pPr>
            <a:r>
              <a:rPr lang="en-US" sz="2156" b="true">
                <a:solidFill>
                  <a:srgbClr val="322A2A"/>
                </a:solidFill>
                <a:latin typeface="Aileron Ultra-Bold"/>
                <a:ea typeface="Aileron Ultra-Bold"/>
                <a:cs typeface="Aileron Ultra-Bold"/>
                <a:sym typeface="Aileron Ultra-Bold"/>
              </a:rPr>
              <a:t>jenis transaksi, usia pembeli, dan status transaksi</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570829" y="3252073"/>
            <a:ext cx="7243770" cy="6251752"/>
          </a:xfrm>
          <a:custGeom>
            <a:avLst/>
            <a:gdLst/>
            <a:ahLst/>
            <a:cxnLst/>
            <a:rect r="r" b="b" t="t" l="l"/>
            <a:pathLst>
              <a:path h="6251752" w="7243770">
                <a:moveTo>
                  <a:pt x="0" y="0"/>
                </a:moveTo>
                <a:lnTo>
                  <a:pt x="7243770" y="0"/>
                </a:lnTo>
                <a:lnTo>
                  <a:pt x="7243770" y="6251752"/>
                </a:lnTo>
                <a:lnTo>
                  <a:pt x="0" y="6251752"/>
                </a:lnTo>
                <a:lnTo>
                  <a:pt x="0" y="0"/>
                </a:lnTo>
                <a:close/>
              </a:path>
            </a:pathLst>
          </a:custGeom>
          <a:blipFill>
            <a:blip r:embed="rId6"/>
            <a:stretch>
              <a:fillRect l="-44927"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Hasil Dalam PostgreSQL : </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
        <p:nvSpPr>
          <p:cNvPr name="TextBox 18" id="18"/>
          <p:cNvSpPr txBox="true"/>
          <p:nvPr/>
        </p:nvSpPr>
        <p:spPr>
          <a:xfrm rot="0">
            <a:off x="742979" y="4385225"/>
            <a:ext cx="13684010" cy="380324"/>
          </a:xfrm>
          <a:prstGeom prst="rect">
            <a:avLst/>
          </a:prstGeom>
        </p:spPr>
        <p:txBody>
          <a:bodyPr anchor="t" rtlCol="false" tIns="0" lIns="0" bIns="0" rIns="0">
            <a:spAutoFit/>
          </a:bodyPr>
          <a:lstStyle/>
          <a:p>
            <a:pPr algn="just">
              <a:lnSpc>
                <a:spcPts val="3019"/>
              </a:lnSpc>
            </a:pPr>
            <a:r>
              <a:rPr lang="en-US" sz="2156" b="true">
                <a:solidFill>
                  <a:srgbClr val="322A2A"/>
                </a:solidFill>
                <a:latin typeface="Aileron Ultra-Bold"/>
                <a:ea typeface="Aileron Ultra-Bold"/>
                <a:cs typeface="Aileron Ultra-Bold"/>
                <a:sym typeface="Aileron Ultra-Bold"/>
              </a:rPr>
              <a:t>2. Tren penjualan per bulan di tahun 2024</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926821"/>
            <a:chOff x="0" y="0"/>
            <a:chExt cx="4816593" cy="1034225"/>
          </a:xfrm>
        </p:grpSpPr>
        <p:sp>
          <p:nvSpPr>
            <p:cNvPr name="Freeform 3" id="3"/>
            <p:cNvSpPr/>
            <p:nvPr/>
          </p:nvSpPr>
          <p:spPr>
            <a:xfrm flipH="false" flipV="false" rot="0">
              <a:off x="0" y="0"/>
              <a:ext cx="4816592" cy="1034225"/>
            </a:xfrm>
            <a:custGeom>
              <a:avLst/>
              <a:gdLst/>
              <a:ahLst/>
              <a:cxnLst/>
              <a:rect r="r" b="b" t="t" l="l"/>
              <a:pathLst>
                <a:path h="1034225" w="4816592">
                  <a:moveTo>
                    <a:pt x="0" y="0"/>
                  </a:moveTo>
                  <a:lnTo>
                    <a:pt x="4816592" y="0"/>
                  </a:lnTo>
                  <a:lnTo>
                    <a:pt x="4816592" y="1034225"/>
                  </a:lnTo>
                  <a:lnTo>
                    <a:pt x="0" y="1034225"/>
                  </a:lnTo>
                  <a:close/>
                </a:path>
              </a:pathLst>
            </a:custGeom>
            <a:solidFill>
              <a:srgbClr val="D9DFCE"/>
            </a:solidFill>
          </p:spPr>
        </p:sp>
        <p:sp>
          <p:nvSpPr>
            <p:cNvPr name="TextBox 4" id="4"/>
            <p:cNvSpPr txBox="true"/>
            <p:nvPr/>
          </p:nvSpPr>
          <p:spPr>
            <a:xfrm>
              <a:off x="0" y="-57150"/>
              <a:ext cx="4816593" cy="1091375"/>
            </a:xfrm>
            <a:prstGeom prst="rect">
              <a:avLst/>
            </a:prstGeom>
          </p:spPr>
          <p:txBody>
            <a:bodyPr anchor="ctr" rtlCol="false" tIns="50800" lIns="50800" bIns="50800" rIns="50800"/>
            <a:lstStyle/>
            <a:p>
              <a:pPr algn="ctr">
                <a:lnSpc>
                  <a:spcPts val="3500"/>
                </a:lnSpc>
              </a:pPr>
            </a:p>
          </p:txBody>
        </p:sp>
      </p:grpSp>
      <p:grpSp>
        <p:nvGrpSpPr>
          <p:cNvPr name="Group 5" id="5"/>
          <p:cNvGrpSpPr/>
          <p:nvPr/>
        </p:nvGrpSpPr>
        <p:grpSpPr>
          <a:xfrm rot="0">
            <a:off x="10391929" y="4149099"/>
            <a:ext cx="6523106" cy="6137901"/>
            <a:chOff x="0" y="0"/>
            <a:chExt cx="1718020" cy="1616566"/>
          </a:xfrm>
        </p:grpSpPr>
        <p:sp>
          <p:nvSpPr>
            <p:cNvPr name="Freeform 6" id="6"/>
            <p:cNvSpPr/>
            <p:nvPr/>
          </p:nvSpPr>
          <p:spPr>
            <a:xfrm flipH="false" flipV="false" rot="0">
              <a:off x="0" y="0"/>
              <a:ext cx="1718020" cy="1616566"/>
            </a:xfrm>
            <a:custGeom>
              <a:avLst/>
              <a:gdLst/>
              <a:ahLst/>
              <a:cxnLst/>
              <a:rect r="r" b="b" t="t" l="l"/>
              <a:pathLst>
                <a:path h="1616566" w="1718020">
                  <a:moveTo>
                    <a:pt x="0" y="0"/>
                  </a:moveTo>
                  <a:lnTo>
                    <a:pt x="1718020" y="0"/>
                  </a:lnTo>
                  <a:lnTo>
                    <a:pt x="1718020" y="1616566"/>
                  </a:lnTo>
                  <a:lnTo>
                    <a:pt x="0" y="1616566"/>
                  </a:lnTo>
                  <a:close/>
                </a:path>
              </a:pathLst>
            </a:custGeom>
            <a:solidFill>
              <a:srgbClr val="F5F8EE"/>
            </a:solidFill>
            <a:ln cap="sq">
              <a:noFill/>
              <a:prstDash val="solid"/>
              <a:miter/>
            </a:ln>
          </p:spPr>
        </p:sp>
        <p:sp>
          <p:nvSpPr>
            <p:cNvPr name="TextBox 7" id="7"/>
            <p:cNvSpPr txBox="true"/>
            <p:nvPr/>
          </p:nvSpPr>
          <p:spPr>
            <a:xfrm>
              <a:off x="0" y="-57150"/>
              <a:ext cx="1718020" cy="1673716"/>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8" id="8"/>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9" id="9"/>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10" id="10"/>
          <p:cNvGrpSpPr/>
          <p:nvPr/>
        </p:nvGrpSpPr>
        <p:grpSpPr>
          <a:xfrm rot="0">
            <a:off x="742979" y="2139339"/>
            <a:ext cx="728840" cy="7288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387909" y="3660090"/>
            <a:ext cx="6725800" cy="4755850"/>
          </a:xfrm>
          <a:custGeom>
            <a:avLst/>
            <a:gdLst/>
            <a:ahLst/>
            <a:cxnLst/>
            <a:rect r="r" b="b" t="t" l="l"/>
            <a:pathLst>
              <a:path h="4755850" w="6725800">
                <a:moveTo>
                  <a:pt x="0" y="0"/>
                </a:moveTo>
                <a:lnTo>
                  <a:pt x="6725800" y="0"/>
                </a:lnTo>
                <a:lnTo>
                  <a:pt x="6725800" y="4755850"/>
                </a:lnTo>
                <a:lnTo>
                  <a:pt x="0" y="4755850"/>
                </a:lnTo>
                <a:lnTo>
                  <a:pt x="0" y="0"/>
                </a:lnTo>
                <a:close/>
              </a:path>
            </a:pathLst>
          </a:custGeom>
          <a:blipFill>
            <a:blip r:embed="rId6"/>
            <a:stretch>
              <a:fillRect l="-72248" t="0" r="0" b="0"/>
            </a:stretch>
          </a:blipFill>
        </p:spPr>
      </p:sp>
      <p:sp>
        <p:nvSpPr>
          <p:cNvPr name="TextBox 15" id="15"/>
          <p:cNvSpPr txBox="true"/>
          <p:nvPr/>
        </p:nvSpPr>
        <p:spPr>
          <a:xfrm rot="0">
            <a:off x="1217833" y="348730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Hasil Dalam PostgreSQL : </a:t>
            </a:r>
          </a:p>
        </p:txBody>
      </p:sp>
      <p:sp>
        <p:nvSpPr>
          <p:cNvPr name="TextBox 16" id="16"/>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7" id="17"/>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3 : OLAP ( Analisis melalui Pyspark &amp; Airflow )</a:t>
            </a:r>
          </a:p>
        </p:txBody>
      </p:sp>
      <p:sp>
        <p:nvSpPr>
          <p:cNvPr name="TextBox 18" id="18"/>
          <p:cNvSpPr txBox="true"/>
          <p:nvPr/>
        </p:nvSpPr>
        <p:spPr>
          <a:xfrm rot="0">
            <a:off x="742979" y="4385225"/>
            <a:ext cx="13684010" cy="380324"/>
          </a:xfrm>
          <a:prstGeom prst="rect">
            <a:avLst/>
          </a:prstGeom>
        </p:spPr>
        <p:txBody>
          <a:bodyPr anchor="t" rtlCol="false" tIns="0" lIns="0" bIns="0" rIns="0">
            <a:spAutoFit/>
          </a:bodyPr>
          <a:lstStyle/>
          <a:p>
            <a:pPr algn="just">
              <a:lnSpc>
                <a:spcPts val="3019"/>
              </a:lnSpc>
            </a:pPr>
            <a:r>
              <a:rPr lang="en-US" sz="2156" b="true">
                <a:solidFill>
                  <a:srgbClr val="322A2A"/>
                </a:solidFill>
                <a:latin typeface="Aileron Ultra-Bold"/>
                <a:ea typeface="Aileron Ultra-Bold"/>
                <a:cs typeface="Aileron Ultra-Bold"/>
                <a:sym typeface="Aileron Ultra-Bold"/>
              </a:rPr>
              <a:t>3.  Rata-rata harga kambing per jenis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948384" y="-2795743"/>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6" id="6"/>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7" id="7"/>
          <p:cNvGrpSpPr/>
          <p:nvPr/>
        </p:nvGrpSpPr>
        <p:grpSpPr>
          <a:xfrm rot="0">
            <a:off x="742979" y="2139339"/>
            <a:ext cx="728840" cy="7288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848375" y="3208844"/>
            <a:ext cx="11634151" cy="6718312"/>
          </a:xfrm>
          <a:custGeom>
            <a:avLst/>
            <a:gdLst/>
            <a:ahLst/>
            <a:cxnLst/>
            <a:rect r="r" b="b" t="t" l="l"/>
            <a:pathLst>
              <a:path h="6718312" w="11634151">
                <a:moveTo>
                  <a:pt x="0" y="0"/>
                </a:moveTo>
                <a:lnTo>
                  <a:pt x="11634151" y="0"/>
                </a:lnTo>
                <a:lnTo>
                  <a:pt x="11634151" y="6718313"/>
                </a:lnTo>
                <a:lnTo>
                  <a:pt x="0" y="6718313"/>
                </a:lnTo>
                <a:lnTo>
                  <a:pt x="0" y="0"/>
                </a:lnTo>
                <a:close/>
              </a:path>
            </a:pathLst>
          </a:custGeom>
          <a:blipFill>
            <a:blip r:embed="rId6"/>
            <a:stretch>
              <a:fillRect l="0" t="0" r="0" b="0"/>
            </a:stretch>
          </a:blipFill>
        </p:spPr>
      </p:sp>
      <p:sp>
        <p:nvSpPr>
          <p:cNvPr name="TextBox 12" id="12"/>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3" id="13"/>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4 : VISUALISASI</a:t>
            </a:r>
          </a:p>
        </p:txBody>
      </p:sp>
      <p:sp>
        <p:nvSpPr>
          <p:cNvPr name="TextBox 14" id="14"/>
          <p:cNvSpPr txBox="true"/>
          <p:nvPr/>
        </p:nvSpPr>
        <p:spPr>
          <a:xfrm rot="0">
            <a:off x="1733672" y="315169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1 :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948384" y="-2795743"/>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6" id="6"/>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7" id="7"/>
          <p:cNvGrpSpPr/>
          <p:nvPr/>
        </p:nvGrpSpPr>
        <p:grpSpPr>
          <a:xfrm rot="0">
            <a:off x="742979" y="2139339"/>
            <a:ext cx="728840" cy="7288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584160" y="2868179"/>
            <a:ext cx="11373713" cy="7030011"/>
          </a:xfrm>
          <a:custGeom>
            <a:avLst/>
            <a:gdLst/>
            <a:ahLst/>
            <a:cxnLst/>
            <a:rect r="r" b="b" t="t" l="l"/>
            <a:pathLst>
              <a:path h="7030011" w="11373713">
                <a:moveTo>
                  <a:pt x="0" y="0"/>
                </a:moveTo>
                <a:lnTo>
                  <a:pt x="11373713" y="0"/>
                </a:lnTo>
                <a:lnTo>
                  <a:pt x="11373713" y="7030011"/>
                </a:lnTo>
                <a:lnTo>
                  <a:pt x="0" y="7030011"/>
                </a:lnTo>
                <a:lnTo>
                  <a:pt x="0" y="0"/>
                </a:lnTo>
                <a:close/>
              </a:path>
            </a:pathLst>
          </a:custGeom>
          <a:blipFill>
            <a:blip r:embed="rId6"/>
            <a:stretch>
              <a:fillRect l="0" t="0" r="0" b="0"/>
            </a:stretch>
          </a:blipFill>
        </p:spPr>
      </p:sp>
      <p:sp>
        <p:nvSpPr>
          <p:cNvPr name="TextBox 12" id="12"/>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3" id="13"/>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4 : VISUALISASI</a:t>
            </a:r>
          </a:p>
        </p:txBody>
      </p:sp>
      <p:sp>
        <p:nvSpPr>
          <p:cNvPr name="TextBox 14" id="14"/>
          <p:cNvSpPr txBox="true"/>
          <p:nvPr/>
        </p:nvSpPr>
        <p:spPr>
          <a:xfrm rot="0">
            <a:off x="1733672" y="315169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2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948384" y="-2795743"/>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6" id="6"/>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7" id="7"/>
          <p:cNvGrpSpPr/>
          <p:nvPr/>
        </p:nvGrpSpPr>
        <p:grpSpPr>
          <a:xfrm rot="0">
            <a:off x="742979" y="2139339"/>
            <a:ext cx="728840" cy="7288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550922" y="2868179"/>
            <a:ext cx="13708378" cy="6494344"/>
          </a:xfrm>
          <a:custGeom>
            <a:avLst/>
            <a:gdLst/>
            <a:ahLst/>
            <a:cxnLst/>
            <a:rect r="r" b="b" t="t" l="l"/>
            <a:pathLst>
              <a:path h="6494344" w="13708378">
                <a:moveTo>
                  <a:pt x="0" y="0"/>
                </a:moveTo>
                <a:lnTo>
                  <a:pt x="13708378" y="0"/>
                </a:lnTo>
                <a:lnTo>
                  <a:pt x="13708378" y="6494344"/>
                </a:lnTo>
                <a:lnTo>
                  <a:pt x="0" y="6494344"/>
                </a:lnTo>
                <a:lnTo>
                  <a:pt x="0" y="0"/>
                </a:lnTo>
                <a:close/>
              </a:path>
            </a:pathLst>
          </a:custGeom>
          <a:blipFill>
            <a:blip r:embed="rId6"/>
            <a:stretch>
              <a:fillRect l="0" t="0" r="0" b="0"/>
            </a:stretch>
          </a:blipFill>
        </p:spPr>
      </p:sp>
      <p:sp>
        <p:nvSpPr>
          <p:cNvPr name="TextBox 12" id="12"/>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3" id="13"/>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Tahap 4 : VISUALISASI</a:t>
            </a:r>
          </a:p>
        </p:txBody>
      </p:sp>
      <p:sp>
        <p:nvSpPr>
          <p:cNvPr name="TextBox 14" id="14"/>
          <p:cNvSpPr txBox="true"/>
          <p:nvPr/>
        </p:nvSpPr>
        <p:spPr>
          <a:xfrm rot="0">
            <a:off x="1733672" y="3151694"/>
            <a:ext cx="15863557" cy="431798"/>
          </a:xfrm>
          <a:prstGeom prst="rect">
            <a:avLst/>
          </a:prstGeom>
        </p:spPr>
        <p:txBody>
          <a:bodyPr anchor="t" rtlCol="false" tIns="0" lIns="0" bIns="0" rIns="0">
            <a:spAutoFit/>
          </a:bodyPr>
          <a:lstStyle/>
          <a:p>
            <a:pPr algn="just">
              <a:lnSpc>
                <a:spcPts val="3500"/>
              </a:lnSpc>
            </a:pPr>
            <a:r>
              <a:rPr lang="en-US" sz="2500" b="true">
                <a:solidFill>
                  <a:srgbClr val="322A2A"/>
                </a:solidFill>
                <a:latin typeface="Aileron Ultra-Bold"/>
                <a:ea typeface="Aileron Ultra-Bold"/>
                <a:cs typeface="Aileron Ultra-Bold"/>
                <a:sym typeface="Aileron Ultra-Bold"/>
              </a:rPr>
              <a:t>Analisis 3 :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948384" y="-2795743"/>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sp>
        <p:nvSpPr>
          <p:cNvPr name="Freeform 5" id="5"/>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2"/>
            <a:stretch>
              <a:fillRect l="0" t="0" r="0" b="0"/>
            </a:stretch>
          </a:blipFill>
        </p:spPr>
      </p:sp>
      <p:sp>
        <p:nvSpPr>
          <p:cNvPr name="Freeform 6" id="6"/>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3"/>
            <a:stretch>
              <a:fillRect l="0" t="0" r="0" b="0"/>
            </a:stretch>
          </a:blipFill>
        </p:spPr>
      </p:sp>
      <p:grpSp>
        <p:nvGrpSpPr>
          <p:cNvPr name="Group 7" id="7"/>
          <p:cNvGrpSpPr/>
          <p:nvPr/>
        </p:nvGrpSpPr>
        <p:grpSpPr>
          <a:xfrm rot="0">
            <a:off x="742979" y="2139339"/>
            <a:ext cx="728840" cy="7288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755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0" id="10"/>
          <p:cNvSpPr/>
          <p:nvPr/>
        </p:nvSpPr>
        <p:spPr>
          <a:xfrm flipH="false" flipV="false" rot="0">
            <a:off x="996965" y="2338656"/>
            <a:ext cx="220869" cy="330206"/>
          </a:xfrm>
          <a:custGeom>
            <a:avLst/>
            <a:gdLst/>
            <a:ahLst/>
            <a:cxnLst/>
            <a:rect r="r" b="b" t="t" l="l"/>
            <a:pathLst>
              <a:path h="330206" w="220869">
                <a:moveTo>
                  <a:pt x="0" y="0"/>
                </a:moveTo>
                <a:lnTo>
                  <a:pt x="220868" y="0"/>
                </a:lnTo>
                <a:lnTo>
                  <a:pt x="220868" y="330206"/>
                </a:lnTo>
                <a:lnTo>
                  <a:pt x="0" y="330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307501" y="2985244"/>
            <a:ext cx="13460687" cy="6578911"/>
          </a:xfrm>
          <a:custGeom>
            <a:avLst/>
            <a:gdLst/>
            <a:ahLst/>
            <a:cxnLst/>
            <a:rect r="r" b="b" t="t" l="l"/>
            <a:pathLst>
              <a:path h="6578911" w="13460687">
                <a:moveTo>
                  <a:pt x="0" y="0"/>
                </a:moveTo>
                <a:lnTo>
                  <a:pt x="13460687" y="0"/>
                </a:lnTo>
                <a:lnTo>
                  <a:pt x="13460687" y="6578911"/>
                </a:lnTo>
                <a:lnTo>
                  <a:pt x="0" y="6578911"/>
                </a:lnTo>
                <a:lnTo>
                  <a:pt x="0" y="0"/>
                </a:lnTo>
                <a:close/>
              </a:path>
            </a:pathLst>
          </a:custGeom>
          <a:blipFill>
            <a:blip r:embed="rId6"/>
            <a:stretch>
              <a:fillRect l="0" t="0" r="0" b="0"/>
            </a:stretch>
          </a:blipFill>
        </p:spPr>
      </p:sp>
      <p:sp>
        <p:nvSpPr>
          <p:cNvPr name="TextBox 12" id="12"/>
          <p:cNvSpPr txBox="true"/>
          <p:nvPr/>
        </p:nvSpPr>
        <p:spPr>
          <a:xfrm rot="0">
            <a:off x="9144000" y="470535"/>
            <a:ext cx="10417795" cy="1011555"/>
          </a:xfrm>
          <a:prstGeom prst="rect">
            <a:avLst/>
          </a:prstGeom>
        </p:spPr>
        <p:txBody>
          <a:bodyPr anchor="t" rtlCol="false" tIns="0" lIns="0" bIns="0" rIns="0">
            <a:spAutoFit/>
          </a:bodyPr>
          <a:lstStyle/>
          <a:p>
            <a:pPr algn="l" marL="0" indent="0" lvl="0">
              <a:lnSpc>
                <a:spcPts val="6960"/>
              </a:lnSpc>
              <a:spcBef>
                <a:spcPct val="0"/>
              </a:spcBef>
            </a:pPr>
            <a:r>
              <a:rPr lang="en-US" b="true" sz="6000">
                <a:solidFill>
                  <a:srgbClr val="134E1A"/>
                </a:solidFill>
                <a:latin typeface="Akzidenz-Grotesk Heavy"/>
                <a:ea typeface="Akzidenz-Grotesk Heavy"/>
                <a:cs typeface="Akzidenz-Grotesk Heavy"/>
                <a:sym typeface="Akzidenz-Grotesk Heavy"/>
              </a:rPr>
              <a:t>TAHAP PENGERJAAN</a:t>
            </a:r>
          </a:p>
        </p:txBody>
      </p:sp>
      <p:sp>
        <p:nvSpPr>
          <p:cNvPr name="TextBox 13" id="13"/>
          <p:cNvSpPr txBox="true"/>
          <p:nvPr/>
        </p:nvSpPr>
        <p:spPr>
          <a:xfrm rot="0">
            <a:off x="1733672" y="2281506"/>
            <a:ext cx="14500941" cy="521334"/>
          </a:xfrm>
          <a:prstGeom prst="rect">
            <a:avLst/>
          </a:prstGeom>
        </p:spPr>
        <p:txBody>
          <a:bodyPr anchor="t" rtlCol="false" tIns="0" lIns="0" bIns="0" rIns="0">
            <a:spAutoFit/>
          </a:bodyPr>
          <a:lstStyle/>
          <a:p>
            <a:pPr algn="just">
              <a:lnSpc>
                <a:spcPts val="4340"/>
              </a:lnSpc>
            </a:pPr>
            <a:r>
              <a:rPr lang="en-US" sz="3100" b="true">
                <a:solidFill>
                  <a:srgbClr val="322A2A"/>
                </a:solidFill>
                <a:latin typeface="Aileron Ultra-Bold"/>
                <a:ea typeface="Aileron Ultra-Bold"/>
                <a:cs typeface="Aileron Ultra-Bold"/>
                <a:sym typeface="Aileron Ultra-Bold"/>
              </a:rPr>
              <a:t>PIPELINE FLOW :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TextBox 13" id="13"/>
          <p:cNvSpPr txBox="true"/>
          <p:nvPr/>
        </p:nvSpPr>
        <p:spPr>
          <a:xfrm rot="0">
            <a:off x="1028700" y="2851958"/>
            <a:ext cx="13677804" cy="4080508"/>
          </a:xfrm>
          <a:prstGeom prst="rect">
            <a:avLst/>
          </a:prstGeom>
        </p:spPr>
        <p:txBody>
          <a:bodyPr anchor="t" rtlCol="false" tIns="0" lIns="0" bIns="0" rIns="0">
            <a:spAutoFit/>
          </a:bodyPr>
          <a:lstStyle/>
          <a:p>
            <a:pPr algn="just">
              <a:lnSpc>
                <a:spcPts val="2940"/>
              </a:lnSpc>
            </a:pPr>
          </a:p>
          <a:p>
            <a:pPr algn="just">
              <a:lnSpc>
                <a:spcPts val="2940"/>
              </a:lnSpc>
            </a:pPr>
            <a:r>
              <a:rPr lang="en-US" sz="2100" b="true">
                <a:solidFill>
                  <a:srgbClr val="322A2A"/>
                </a:solidFill>
                <a:latin typeface="Aileron Bold"/>
                <a:ea typeface="Aileron Bold"/>
                <a:cs typeface="Aileron Bold"/>
                <a:sym typeface="Aileron Bold"/>
              </a:rPr>
              <a:t>Sebagai bagian dari proses analisis, kami juga memperhatikan aspek pengamanan dan privasi data. Dalam proyek ini, kami menerapkan langkah-langkah berikut untuk melindungi informasi sensitif:</a:t>
            </a:r>
          </a:p>
          <a:p>
            <a:pPr algn="just">
              <a:lnSpc>
                <a:spcPts val="2940"/>
              </a:lnSpc>
            </a:pPr>
          </a:p>
          <a:p>
            <a:pPr algn="just">
              <a:lnSpc>
                <a:spcPts val="2940"/>
              </a:lnSpc>
            </a:pPr>
            <a:r>
              <a:rPr lang="en-US" sz="2100" b="true">
                <a:solidFill>
                  <a:srgbClr val="322A2A"/>
                </a:solidFill>
                <a:latin typeface="Aileron Bold"/>
                <a:ea typeface="Aileron Bold"/>
                <a:cs typeface="Aileron Bold"/>
                <a:sym typeface="Aileron Bold"/>
              </a:rPr>
              <a:t>Data Masking pada Nomor Telepon</a:t>
            </a:r>
          </a:p>
          <a:p>
            <a:pPr algn="just" marL="453406" indent="-226703" lvl="1">
              <a:lnSpc>
                <a:spcPts val="2940"/>
              </a:lnSpc>
              <a:buFont typeface="Arial"/>
              <a:buChar char="•"/>
            </a:pPr>
            <a:r>
              <a:rPr lang="en-US" b="true" sz="2100">
                <a:solidFill>
                  <a:srgbClr val="322A2A"/>
                </a:solidFill>
                <a:latin typeface="Aileron Bold"/>
                <a:ea typeface="Aileron Bold"/>
                <a:cs typeface="Aileron Bold"/>
                <a:sym typeface="Aileron Bold"/>
              </a:rPr>
              <a:t>Data nomor telepon pembeli dimasking sehingga hanya sebagian informasi yang terlihat.</a:t>
            </a:r>
          </a:p>
          <a:p>
            <a:pPr algn="just">
              <a:lnSpc>
                <a:spcPts val="2940"/>
              </a:lnSpc>
            </a:pPr>
          </a:p>
          <a:p>
            <a:pPr algn="just">
              <a:lnSpc>
                <a:spcPts val="2940"/>
              </a:lnSpc>
            </a:pPr>
            <a:r>
              <a:rPr lang="en-US" sz="2100" b="true">
                <a:solidFill>
                  <a:srgbClr val="322A2A"/>
                </a:solidFill>
                <a:latin typeface="Aileron Bold"/>
                <a:ea typeface="Aileron Bold"/>
                <a:cs typeface="Aileron Bold"/>
                <a:sym typeface="Aileron Bold"/>
              </a:rPr>
              <a:t>Enkripsi Data pada Alamat</a:t>
            </a:r>
          </a:p>
          <a:p>
            <a:pPr algn="just" marL="453406" indent="-226703" lvl="1">
              <a:lnSpc>
                <a:spcPts val="2940"/>
              </a:lnSpc>
              <a:buFont typeface="Arial"/>
              <a:buChar char="•"/>
            </a:pPr>
            <a:r>
              <a:rPr lang="en-US" b="true" sz="2100">
                <a:solidFill>
                  <a:srgbClr val="322A2A"/>
                </a:solidFill>
                <a:latin typeface="Aileron Bold"/>
                <a:ea typeface="Aileron Bold"/>
                <a:cs typeface="Aileron Bold"/>
                <a:sym typeface="Aileron Bold"/>
              </a:rPr>
              <a:t>Data alamat pembeli dienkripsi menggunakan algoritma enkripsi yang aman, sehingga hanya dapat diakses oleh pihak yang memiliki kunci dekripsi.</a:t>
            </a:r>
          </a:p>
          <a:p>
            <a:pPr algn="just">
              <a:lnSpc>
                <a:spcPts val="2940"/>
              </a:lnSpc>
            </a:pPr>
          </a:p>
        </p:txBody>
      </p:sp>
      <p:sp>
        <p:nvSpPr>
          <p:cNvPr name="Freeform 14" id="14"/>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
        <p:nvSpPr>
          <p:cNvPr name="TextBox 16" id="16"/>
          <p:cNvSpPr txBox="true"/>
          <p:nvPr/>
        </p:nvSpPr>
        <p:spPr>
          <a:xfrm rot="0">
            <a:off x="597102" y="7405363"/>
            <a:ext cx="15735204" cy="869948"/>
          </a:xfrm>
          <a:prstGeom prst="rect">
            <a:avLst/>
          </a:prstGeom>
        </p:spPr>
        <p:txBody>
          <a:bodyPr anchor="t" rtlCol="false" tIns="0" lIns="0" bIns="0" rIns="0">
            <a:spAutoFit/>
          </a:bodyPr>
          <a:lstStyle/>
          <a:p>
            <a:pPr algn="ctr">
              <a:lnSpc>
                <a:spcPts val="3500"/>
              </a:lnSpc>
              <a:spcBef>
                <a:spcPct val="0"/>
              </a:spcBef>
            </a:pPr>
            <a:r>
              <a:rPr lang="en-US" b="true" sz="2500">
                <a:solidFill>
                  <a:srgbClr val="000000"/>
                </a:solidFill>
                <a:latin typeface="Aileron Bold"/>
                <a:ea typeface="Aileron Bold"/>
                <a:cs typeface="Aileron Bold"/>
                <a:sym typeface="Aileron Bold"/>
              </a:rPr>
              <a:t>Dalam proyek ini, kami menggunakan DAG (Directed Acyclic Graph) pada Apache Airflow untuk pengamanan dan privasi data nya.</a:t>
            </a:r>
          </a:p>
        </p:txBody>
      </p:sp>
      <p:sp>
        <p:nvSpPr>
          <p:cNvPr name="Freeform 17" id="17"/>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8" id="18"/>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Freeform 13" id="13"/>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5" id="15"/>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
        <p:nvSpPr>
          <p:cNvPr name="Freeform 16" id="16"/>
          <p:cNvSpPr/>
          <p:nvPr/>
        </p:nvSpPr>
        <p:spPr>
          <a:xfrm flipH="false" flipV="false" rot="0">
            <a:off x="3900026" y="3258344"/>
            <a:ext cx="7817532" cy="5999956"/>
          </a:xfrm>
          <a:custGeom>
            <a:avLst/>
            <a:gdLst/>
            <a:ahLst/>
            <a:cxnLst/>
            <a:rect r="r" b="b" t="t" l="l"/>
            <a:pathLst>
              <a:path h="5999956" w="7817532">
                <a:moveTo>
                  <a:pt x="0" y="0"/>
                </a:moveTo>
                <a:lnTo>
                  <a:pt x="7817532" y="0"/>
                </a:lnTo>
                <a:lnTo>
                  <a:pt x="7817532" y="5999956"/>
                </a:lnTo>
                <a:lnTo>
                  <a:pt x="0" y="5999956"/>
                </a:lnTo>
                <a:lnTo>
                  <a:pt x="0" y="0"/>
                </a:lnTo>
                <a:close/>
              </a:path>
            </a:pathLst>
          </a:custGeom>
          <a:blipFill>
            <a:blip r:embed="rId8"/>
            <a:stretch>
              <a:fillRect l="0" t="0" r="0" b="0"/>
            </a:stretch>
          </a:blipFill>
        </p:spPr>
      </p:sp>
      <p:sp>
        <p:nvSpPr>
          <p:cNvPr name="TextBox 17" id="17"/>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Freeform 13" id="13"/>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5" id="15"/>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
        <p:nvSpPr>
          <p:cNvPr name="Freeform 16" id="16"/>
          <p:cNvSpPr/>
          <p:nvPr/>
        </p:nvSpPr>
        <p:spPr>
          <a:xfrm flipH="false" flipV="false" rot="0">
            <a:off x="5211470" y="3294391"/>
            <a:ext cx="6885575" cy="6214231"/>
          </a:xfrm>
          <a:custGeom>
            <a:avLst/>
            <a:gdLst/>
            <a:ahLst/>
            <a:cxnLst/>
            <a:rect r="r" b="b" t="t" l="l"/>
            <a:pathLst>
              <a:path h="6214231" w="6885575">
                <a:moveTo>
                  <a:pt x="0" y="0"/>
                </a:moveTo>
                <a:lnTo>
                  <a:pt x="6885575" y="0"/>
                </a:lnTo>
                <a:lnTo>
                  <a:pt x="6885575" y="6214232"/>
                </a:lnTo>
                <a:lnTo>
                  <a:pt x="0" y="6214232"/>
                </a:lnTo>
                <a:lnTo>
                  <a:pt x="0" y="0"/>
                </a:lnTo>
                <a:close/>
              </a:path>
            </a:pathLst>
          </a:custGeom>
          <a:blipFill>
            <a:blip r:embed="rId8"/>
            <a:stretch>
              <a:fillRect l="0" t="0" r="0" b="0"/>
            </a:stretch>
          </a:blipFill>
        </p:spPr>
      </p:sp>
      <p:sp>
        <p:nvSpPr>
          <p:cNvPr name="TextBox 17" id="17"/>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Freeform 13" id="13"/>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5" id="15"/>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
        <p:nvSpPr>
          <p:cNvPr name="Freeform 16" id="16"/>
          <p:cNvSpPr/>
          <p:nvPr/>
        </p:nvSpPr>
        <p:spPr>
          <a:xfrm flipH="false" flipV="false" rot="0">
            <a:off x="1878266" y="3070861"/>
            <a:ext cx="11301259" cy="6187439"/>
          </a:xfrm>
          <a:custGeom>
            <a:avLst/>
            <a:gdLst/>
            <a:ahLst/>
            <a:cxnLst/>
            <a:rect r="r" b="b" t="t" l="l"/>
            <a:pathLst>
              <a:path h="6187439" w="11301259">
                <a:moveTo>
                  <a:pt x="0" y="0"/>
                </a:moveTo>
                <a:lnTo>
                  <a:pt x="11301259" y="0"/>
                </a:lnTo>
                <a:lnTo>
                  <a:pt x="11301259" y="6187439"/>
                </a:lnTo>
                <a:lnTo>
                  <a:pt x="0" y="6187439"/>
                </a:lnTo>
                <a:lnTo>
                  <a:pt x="0" y="0"/>
                </a:lnTo>
                <a:close/>
              </a:path>
            </a:pathLst>
          </a:custGeom>
          <a:blipFill>
            <a:blip r:embed="rId8"/>
            <a:stretch>
              <a:fillRect l="0" t="0" r="0" b="0"/>
            </a:stretch>
          </a:blipFill>
        </p:spPr>
      </p:sp>
      <p:sp>
        <p:nvSpPr>
          <p:cNvPr name="TextBox 17" id="17"/>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Freeform 13" id="13"/>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5" id="15"/>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
        <p:nvSpPr>
          <p:cNvPr name="Freeform 16" id="16"/>
          <p:cNvSpPr/>
          <p:nvPr/>
        </p:nvSpPr>
        <p:spPr>
          <a:xfrm flipH="false" flipV="false" rot="0">
            <a:off x="2823305" y="3517979"/>
            <a:ext cx="11301259" cy="4873668"/>
          </a:xfrm>
          <a:custGeom>
            <a:avLst/>
            <a:gdLst/>
            <a:ahLst/>
            <a:cxnLst/>
            <a:rect r="r" b="b" t="t" l="l"/>
            <a:pathLst>
              <a:path h="4873668" w="11301259">
                <a:moveTo>
                  <a:pt x="0" y="0"/>
                </a:moveTo>
                <a:lnTo>
                  <a:pt x="11301259" y="0"/>
                </a:lnTo>
                <a:lnTo>
                  <a:pt x="11301259" y="4873668"/>
                </a:lnTo>
                <a:lnTo>
                  <a:pt x="0" y="4873668"/>
                </a:lnTo>
                <a:lnTo>
                  <a:pt x="0" y="0"/>
                </a:lnTo>
                <a:close/>
              </a:path>
            </a:pathLst>
          </a:custGeom>
          <a:blipFill>
            <a:blip r:embed="rId8"/>
            <a:stretch>
              <a:fillRect l="0" t="0" r="0" b="0"/>
            </a:stretch>
          </a:blipFill>
        </p:spPr>
      </p:sp>
      <p:sp>
        <p:nvSpPr>
          <p:cNvPr name="TextBox 17" id="17"/>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Freeform 13" id="13"/>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5" id="15"/>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
        <p:nvSpPr>
          <p:cNvPr name="Freeform 16" id="16"/>
          <p:cNvSpPr/>
          <p:nvPr/>
        </p:nvSpPr>
        <p:spPr>
          <a:xfrm flipH="false" flipV="false" rot="0">
            <a:off x="1231405" y="3517979"/>
            <a:ext cx="7208032" cy="4216699"/>
          </a:xfrm>
          <a:custGeom>
            <a:avLst/>
            <a:gdLst/>
            <a:ahLst/>
            <a:cxnLst/>
            <a:rect r="r" b="b" t="t" l="l"/>
            <a:pathLst>
              <a:path h="4216699" w="7208032">
                <a:moveTo>
                  <a:pt x="0" y="0"/>
                </a:moveTo>
                <a:lnTo>
                  <a:pt x="7208032" y="0"/>
                </a:lnTo>
                <a:lnTo>
                  <a:pt x="7208032" y="4216699"/>
                </a:lnTo>
                <a:lnTo>
                  <a:pt x="0" y="4216699"/>
                </a:lnTo>
                <a:lnTo>
                  <a:pt x="0" y="0"/>
                </a:lnTo>
                <a:close/>
              </a:path>
            </a:pathLst>
          </a:custGeom>
          <a:blipFill>
            <a:blip r:embed="rId8"/>
            <a:stretch>
              <a:fillRect l="0" t="0" r="0" b="0"/>
            </a:stretch>
          </a:blipFill>
        </p:spPr>
      </p:sp>
      <p:sp>
        <p:nvSpPr>
          <p:cNvPr name="Freeform 17" id="17"/>
          <p:cNvSpPr/>
          <p:nvPr/>
        </p:nvSpPr>
        <p:spPr>
          <a:xfrm flipH="false" flipV="false" rot="0">
            <a:off x="6441544" y="6287513"/>
            <a:ext cx="8489319" cy="2894330"/>
          </a:xfrm>
          <a:custGeom>
            <a:avLst/>
            <a:gdLst/>
            <a:ahLst/>
            <a:cxnLst/>
            <a:rect r="r" b="b" t="t" l="l"/>
            <a:pathLst>
              <a:path h="2894330" w="8489319">
                <a:moveTo>
                  <a:pt x="0" y="0"/>
                </a:moveTo>
                <a:lnTo>
                  <a:pt x="8489319" y="0"/>
                </a:lnTo>
                <a:lnTo>
                  <a:pt x="8489319" y="2894330"/>
                </a:lnTo>
                <a:lnTo>
                  <a:pt x="0" y="2894330"/>
                </a:lnTo>
                <a:lnTo>
                  <a:pt x="0" y="0"/>
                </a:lnTo>
                <a:close/>
              </a:path>
            </a:pathLst>
          </a:custGeom>
          <a:blipFill>
            <a:blip r:embed="rId9"/>
            <a:stretch>
              <a:fillRect l="0" t="0" r="0" b="0"/>
            </a:stretch>
          </a:blipFill>
        </p:spPr>
      </p:sp>
      <p:sp>
        <p:nvSpPr>
          <p:cNvPr name="TextBox 18" id="18"/>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13874850" y="7868912"/>
            <a:ext cx="6768900" cy="67689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8EE"/>
            </a:solidFill>
            <a:ln cap="sq">
              <a:no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3500"/>
                </a:lnSpc>
                <a:spcBef>
                  <a:spcPct val="0"/>
                </a:spcBef>
              </a:pPr>
            </a:p>
          </p:txBody>
        </p:sp>
      </p:grpSp>
      <p:grpSp>
        <p:nvGrpSpPr>
          <p:cNvPr name="Group 5" id="5"/>
          <p:cNvGrpSpPr/>
          <p:nvPr/>
        </p:nvGrpSpPr>
        <p:grpSpPr>
          <a:xfrm rot="0">
            <a:off x="16332306" y="0"/>
            <a:ext cx="1955694" cy="10287000"/>
            <a:chOff x="0" y="0"/>
            <a:chExt cx="515080" cy="2709333"/>
          </a:xfrm>
        </p:grpSpPr>
        <p:sp>
          <p:nvSpPr>
            <p:cNvPr name="Freeform 6" id="6"/>
            <p:cNvSpPr/>
            <p:nvPr/>
          </p:nvSpPr>
          <p:spPr>
            <a:xfrm flipH="false" flipV="false" rot="0">
              <a:off x="0" y="0"/>
              <a:ext cx="515080" cy="2709333"/>
            </a:xfrm>
            <a:custGeom>
              <a:avLst/>
              <a:gdLst/>
              <a:ahLst/>
              <a:cxnLst/>
              <a:rect r="r" b="b" t="t" l="l"/>
              <a:pathLst>
                <a:path h="2709333" w="515080">
                  <a:moveTo>
                    <a:pt x="0" y="0"/>
                  </a:moveTo>
                  <a:lnTo>
                    <a:pt x="515080" y="0"/>
                  </a:lnTo>
                  <a:lnTo>
                    <a:pt x="515080" y="2709333"/>
                  </a:lnTo>
                  <a:lnTo>
                    <a:pt x="0" y="2709333"/>
                  </a:lnTo>
                  <a:close/>
                </a:path>
              </a:pathLst>
            </a:custGeom>
            <a:solidFill>
              <a:srgbClr val="D9DFCE"/>
            </a:solidFill>
          </p:spPr>
        </p:sp>
        <p:sp>
          <p:nvSpPr>
            <p:cNvPr name="TextBox 7" id="7"/>
            <p:cNvSpPr txBox="true"/>
            <p:nvPr/>
          </p:nvSpPr>
          <p:spPr>
            <a:xfrm>
              <a:off x="0" y="-57150"/>
              <a:ext cx="515080" cy="2766483"/>
            </a:xfrm>
            <a:prstGeom prst="rect">
              <a:avLst/>
            </a:prstGeom>
          </p:spPr>
          <p:txBody>
            <a:bodyPr anchor="ctr" rtlCol="false" tIns="50800" lIns="50800" bIns="50800" rIns="50800"/>
            <a:lstStyle/>
            <a:p>
              <a:pPr algn="ctr">
                <a:lnSpc>
                  <a:spcPts val="3500"/>
                </a:lnSpc>
              </a:pPr>
            </a:p>
          </p:txBody>
        </p:sp>
      </p:grpSp>
      <p:grpSp>
        <p:nvGrpSpPr>
          <p:cNvPr name="Group 8" id="8"/>
          <p:cNvGrpSpPr/>
          <p:nvPr/>
        </p:nvGrpSpPr>
        <p:grpSpPr>
          <a:xfrm rot="0">
            <a:off x="14706504" y="1028700"/>
            <a:ext cx="2552796" cy="255279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4E1A"/>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11" id="11"/>
          <p:cNvSpPr/>
          <p:nvPr/>
        </p:nvSpPr>
        <p:spPr>
          <a:xfrm flipH="false" flipV="false" rot="0">
            <a:off x="15365684" y="1902223"/>
            <a:ext cx="1234436" cy="805750"/>
          </a:xfrm>
          <a:custGeom>
            <a:avLst/>
            <a:gdLst/>
            <a:ahLst/>
            <a:cxnLst/>
            <a:rect r="r" b="b" t="t" l="l"/>
            <a:pathLst>
              <a:path h="805750" w="1234436">
                <a:moveTo>
                  <a:pt x="0" y="0"/>
                </a:moveTo>
                <a:lnTo>
                  <a:pt x="1234436" y="0"/>
                </a:lnTo>
                <a:lnTo>
                  <a:pt x="1234436" y="805750"/>
                </a:lnTo>
                <a:lnTo>
                  <a:pt x="0" y="80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183951" y="723663"/>
            <a:ext cx="10940614" cy="1178560"/>
          </a:xfrm>
          <a:prstGeom prst="rect">
            <a:avLst/>
          </a:prstGeom>
        </p:spPr>
        <p:txBody>
          <a:bodyPr anchor="t" rtlCol="false" tIns="0" lIns="0" bIns="0" rIns="0">
            <a:spAutoFit/>
          </a:bodyPr>
          <a:lstStyle/>
          <a:p>
            <a:pPr algn="r" marL="0" indent="0" lvl="0">
              <a:lnSpc>
                <a:spcPts val="8120"/>
              </a:lnSpc>
              <a:spcBef>
                <a:spcPct val="0"/>
              </a:spcBef>
            </a:pPr>
            <a:r>
              <a:rPr lang="en-US" b="true" sz="7000">
                <a:solidFill>
                  <a:srgbClr val="134E1A"/>
                </a:solidFill>
                <a:latin typeface="Akzidenz-Grotesk Heavy"/>
                <a:ea typeface="Akzidenz-Grotesk Heavy"/>
                <a:cs typeface="Akzidenz-Grotesk Heavy"/>
                <a:sym typeface="Akzidenz-Grotesk Heavy"/>
              </a:rPr>
              <a:t>Tambahan :</a:t>
            </a:r>
          </a:p>
        </p:txBody>
      </p:sp>
      <p:sp>
        <p:nvSpPr>
          <p:cNvPr name="Freeform 13" id="13"/>
          <p:cNvSpPr/>
          <p:nvPr/>
        </p:nvSpPr>
        <p:spPr>
          <a:xfrm flipH="false" flipV="false" rot="0">
            <a:off x="13885906" y="4620629"/>
            <a:ext cx="1755330" cy="261704"/>
          </a:xfrm>
          <a:custGeom>
            <a:avLst/>
            <a:gdLst/>
            <a:ahLst/>
            <a:cxnLst/>
            <a:rect r="r" b="b" t="t" l="l"/>
            <a:pathLst>
              <a:path h="261704" w="1755330">
                <a:moveTo>
                  <a:pt x="0" y="0"/>
                </a:moveTo>
                <a:lnTo>
                  <a:pt x="1755330" y="0"/>
                </a:lnTo>
                <a:lnTo>
                  <a:pt x="1755330" y="261703"/>
                </a:lnTo>
                <a:lnTo>
                  <a:pt x="0" y="261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5" id="15"/>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
        <p:nvSpPr>
          <p:cNvPr name="Freeform 16" id="16"/>
          <p:cNvSpPr/>
          <p:nvPr/>
        </p:nvSpPr>
        <p:spPr>
          <a:xfrm flipH="false" flipV="false" rot="0">
            <a:off x="636137" y="3222286"/>
            <a:ext cx="11301259" cy="3842428"/>
          </a:xfrm>
          <a:custGeom>
            <a:avLst/>
            <a:gdLst/>
            <a:ahLst/>
            <a:cxnLst/>
            <a:rect r="r" b="b" t="t" l="l"/>
            <a:pathLst>
              <a:path h="3842428" w="11301259">
                <a:moveTo>
                  <a:pt x="0" y="0"/>
                </a:moveTo>
                <a:lnTo>
                  <a:pt x="11301259" y="0"/>
                </a:lnTo>
                <a:lnTo>
                  <a:pt x="11301259" y="3842428"/>
                </a:lnTo>
                <a:lnTo>
                  <a:pt x="0" y="3842428"/>
                </a:lnTo>
                <a:lnTo>
                  <a:pt x="0" y="0"/>
                </a:lnTo>
                <a:close/>
              </a:path>
            </a:pathLst>
          </a:custGeom>
          <a:blipFill>
            <a:blip r:embed="rId8"/>
            <a:stretch>
              <a:fillRect l="0" t="0" r="0" b="0"/>
            </a:stretch>
          </a:blipFill>
        </p:spPr>
      </p:sp>
      <p:sp>
        <p:nvSpPr>
          <p:cNvPr name="Freeform 17" id="17"/>
          <p:cNvSpPr/>
          <p:nvPr/>
        </p:nvSpPr>
        <p:spPr>
          <a:xfrm flipH="false" flipV="false" rot="0">
            <a:off x="4957162" y="5920557"/>
            <a:ext cx="11025740" cy="3073425"/>
          </a:xfrm>
          <a:custGeom>
            <a:avLst/>
            <a:gdLst/>
            <a:ahLst/>
            <a:cxnLst/>
            <a:rect r="r" b="b" t="t" l="l"/>
            <a:pathLst>
              <a:path h="3073425" w="11025740">
                <a:moveTo>
                  <a:pt x="0" y="0"/>
                </a:moveTo>
                <a:lnTo>
                  <a:pt x="11025740" y="0"/>
                </a:lnTo>
                <a:lnTo>
                  <a:pt x="11025740" y="3073425"/>
                </a:lnTo>
                <a:lnTo>
                  <a:pt x="0" y="3073425"/>
                </a:lnTo>
                <a:lnTo>
                  <a:pt x="0" y="0"/>
                </a:lnTo>
                <a:close/>
              </a:path>
            </a:pathLst>
          </a:custGeom>
          <a:blipFill>
            <a:blip r:embed="rId9"/>
            <a:stretch>
              <a:fillRect l="0" t="0" r="0" b="0"/>
            </a:stretch>
          </a:blipFill>
        </p:spPr>
      </p:sp>
      <p:sp>
        <p:nvSpPr>
          <p:cNvPr name="TextBox 18" id="18"/>
          <p:cNvSpPr txBox="true"/>
          <p:nvPr/>
        </p:nvSpPr>
        <p:spPr>
          <a:xfrm rot="0">
            <a:off x="-9662199" y="2345642"/>
            <a:ext cx="18316457" cy="657987"/>
          </a:xfrm>
          <a:prstGeom prst="rect">
            <a:avLst/>
          </a:prstGeom>
        </p:spPr>
        <p:txBody>
          <a:bodyPr anchor="t" rtlCol="false" tIns="0" lIns="0" bIns="0" rIns="0">
            <a:spAutoFit/>
          </a:bodyPr>
          <a:lstStyle/>
          <a:p>
            <a:pPr algn="r" marL="0" indent="0" lvl="0">
              <a:lnSpc>
                <a:spcPts val="4524"/>
              </a:lnSpc>
              <a:spcBef>
                <a:spcPct val="0"/>
              </a:spcBef>
            </a:pPr>
            <a:r>
              <a:rPr lang="en-US" b="true" sz="3900">
                <a:solidFill>
                  <a:srgbClr val="134E1A"/>
                </a:solidFill>
                <a:latin typeface="Akzidenz-Grotesk Heavy"/>
                <a:ea typeface="Akzidenz-Grotesk Heavy"/>
                <a:cs typeface="Akzidenz-Grotesk Heavy"/>
                <a:sym typeface="Akzidenz-Grotesk Heavy"/>
              </a:rPr>
              <a:t>Pengamanan dan Privasi Data</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6884463"/>
            <a:ext cx="18288000" cy="3402537"/>
            <a:chOff x="0" y="0"/>
            <a:chExt cx="4816593" cy="896141"/>
          </a:xfrm>
        </p:grpSpPr>
        <p:sp>
          <p:nvSpPr>
            <p:cNvPr name="Freeform 3" id="3"/>
            <p:cNvSpPr/>
            <p:nvPr/>
          </p:nvSpPr>
          <p:spPr>
            <a:xfrm flipH="false" flipV="false" rot="0">
              <a:off x="0" y="0"/>
              <a:ext cx="4816592" cy="896141"/>
            </a:xfrm>
            <a:custGeom>
              <a:avLst/>
              <a:gdLst/>
              <a:ahLst/>
              <a:cxnLst/>
              <a:rect r="r" b="b" t="t" l="l"/>
              <a:pathLst>
                <a:path h="896141" w="4816592">
                  <a:moveTo>
                    <a:pt x="0" y="0"/>
                  </a:moveTo>
                  <a:lnTo>
                    <a:pt x="4816592" y="0"/>
                  </a:lnTo>
                  <a:lnTo>
                    <a:pt x="4816592" y="896141"/>
                  </a:lnTo>
                  <a:lnTo>
                    <a:pt x="0" y="896141"/>
                  </a:lnTo>
                  <a:close/>
                </a:path>
              </a:pathLst>
            </a:custGeom>
            <a:solidFill>
              <a:srgbClr val="577550"/>
            </a:solidFill>
          </p:spPr>
        </p:sp>
        <p:sp>
          <p:nvSpPr>
            <p:cNvPr name="TextBox 4" id="4"/>
            <p:cNvSpPr txBox="true"/>
            <p:nvPr/>
          </p:nvSpPr>
          <p:spPr>
            <a:xfrm>
              <a:off x="0" y="-57150"/>
              <a:ext cx="4816593" cy="953291"/>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5400000">
            <a:off x="6973362" y="3650247"/>
            <a:ext cx="4341276" cy="8914961"/>
          </a:xfrm>
          <a:custGeom>
            <a:avLst/>
            <a:gdLst/>
            <a:ahLst/>
            <a:cxnLst/>
            <a:rect r="r" b="b" t="t" l="l"/>
            <a:pathLst>
              <a:path h="8914961" w="4341276">
                <a:moveTo>
                  <a:pt x="0" y="0"/>
                </a:moveTo>
                <a:lnTo>
                  <a:pt x="4341276" y="0"/>
                </a:lnTo>
                <a:lnTo>
                  <a:pt x="4341276" y="8914962"/>
                </a:lnTo>
                <a:lnTo>
                  <a:pt x="0" y="8914962"/>
                </a:lnTo>
                <a:lnTo>
                  <a:pt x="0" y="0"/>
                </a:lnTo>
                <a:close/>
              </a:path>
            </a:pathLst>
          </a:custGeom>
          <a:blipFill>
            <a:blip r:embed="rId2">
              <a:alphaModFix amt="50000"/>
            </a:blip>
            <a:stretch>
              <a:fillRect l="-1702" t="0" r="0" b="0"/>
            </a:stretch>
          </a:blipFill>
        </p:spPr>
      </p:sp>
      <p:grpSp>
        <p:nvGrpSpPr>
          <p:cNvPr name="Group 6" id="6"/>
          <p:cNvGrpSpPr/>
          <p:nvPr/>
        </p:nvGrpSpPr>
        <p:grpSpPr>
          <a:xfrm rot="0">
            <a:off x="2681272" y="6480897"/>
            <a:ext cx="13189295" cy="3806103"/>
            <a:chOff x="0" y="0"/>
            <a:chExt cx="2043367" cy="589665"/>
          </a:xfrm>
        </p:grpSpPr>
        <p:sp>
          <p:nvSpPr>
            <p:cNvPr name="Freeform 7" id="7"/>
            <p:cNvSpPr/>
            <p:nvPr/>
          </p:nvSpPr>
          <p:spPr>
            <a:xfrm flipH="false" flipV="false" rot="0">
              <a:off x="0" y="0"/>
              <a:ext cx="2043367" cy="589665"/>
            </a:xfrm>
            <a:custGeom>
              <a:avLst/>
              <a:gdLst/>
              <a:ahLst/>
              <a:cxnLst/>
              <a:rect r="r" b="b" t="t" l="l"/>
              <a:pathLst>
                <a:path h="589665" w="2043367">
                  <a:moveTo>
                    <a:pt x="0" y="0"/>
                  </a:moveTo>
                  <a:lnTo>
                    <a:pt x="2043367" y="0"/>
                  </a:lnTo>
                  <a:lnTo>
                    <a:pt x="2043367" y="589665"/>
                  </a:lnTo>
                  <a:lnTo>
                    <a:pt x="0" y="589665"/>
                  </a:lnTo>
                  <a:close/>
                </a:path>
              </a:pathLst>
            </a:custGeom>
            <a:blipFill>
              <a:blip r:embed="rId3"/>
              <a:stretch>
                <a:fillRect l="0" t="-53246" r="0" b="-53246"/>
              </a:stretch>
            </a:blipFill>
          </p:spPr>
        </p:sp>
      </p:grpSp>
      <p:sp>
        <p:nvSpPr>
          <p:cNvPr name="TextBox 8" id="8"/>
          <p:cNvSpPr txBox="true"/>
          <p:nvPr/>
        </p:nvSpPr>
        <p:spPr>
          <a:xfrm rot="0">
            <a:off x="3342082" y="2381973"/>
            <a:ext cx="12216758" cy="3758563"/>
          </a:xfrm>
          <a:prstGeom prst="rect">
            <a:avLst/>
          </a:prstGeom>
        </p:spPr>
        <p:txBody>
          <a:bodyPr anchor="t" rtlCol="false" tIns="0" lIns="0" bIns="0" rIns="0">
            <a:spAutoFit/>
          </a:bodyPr>
          <a:lstStyle/>
          <a:p>
            <a:pPr algn="ctr">
              <a:lnSpc>
                <a:spcPts val="3360"/>
              </a:lnSpc>
            </a:pPr>
            <a:r>
              <a:rPr lang="en-US" sz="2400" b="true">
                <a:solidFill>
                  <a:srgbClr val="322A2A"/>
                </a:solidFill>
                <a:latin typeface="Aileron Ultra-Bold"/>
                <a:ea typeface="Aileron Ultra-Bold"/>
                <a:cs typeface="Aileron Ultra-Bold"/>
                <a:sym typeface="Aileron Ultra-Bold"/>
              </a:rPr>
              <a:t>Laporan ini menggunakan metodologi ETL (</a:t>
            </a:r>
            <a:r>
              <a:rPr lang="en-US" b="true" sz="2400" i="true">
                <a:solidFill>
                  <a:srgbClr val="322A2A"/>
                </a:solidFill>
                <a:latin typeface="Aileron Ultra-Bold Italics"/>
                <a:ea typeface="Aileron Ultra-Bold Italics"/>
                <a:cs typeface="Aileron Ultra-Bold Italics"/>
                <a:sym typeface="Aileron Ultra-Bold Italics"/>
              </a:rPr>
              <a:t>Extract</a:t>
            </a:r>
            <a:r>
              <a:rPr lang="en-US" sz="2400" b="true">
                <a:solidFill>
                  <a:srgbClr val="322A2A"/>
                </a:solidFill>
                <a:latin typeface="Aileron Ultra-Bold"/>
                <a:ea typeface="Aileron Ultra-Bold"/>
                <a:cs typeface="Aileron Ultra-Bold"/>
                <a:sym typeface="Aileron Ultra-Bold"/>
              </a:rPr>
              <a:t>, </a:t>
            </a:r>
            <a:r>
              <a:rPr lang="en-US" b="true" sz="2400" i="true">
                <a:solidFill>
                  <a:srgbClr val="322A2A"/>
                </a:solidFill>
                <a:latin typeface="Aileron Ultra-Bold Italics"/>
                <a:ea typeface="Aileron Ultra-Bold Italics"/>
                <a:cs typeface="Aileron Ultra-Bold Italics"/>
                <a:sym typeface="Aileron Ultra-Bold Italics"/>
              </a:rPr>
              <a:t>Transform</a:t>
            </a:r>
            <a:r>
              <a:rPr lang="en-US" sz="2400" b="true">
                <a:solidFill>
                  <a:srgbClr val="322A2A"/>
                </a:solidFill>
                <a:latin typeface="Aileron Ultra-Bold"/>
                <a:ea typeface="Aileron Ultra-Bold"/>
                <a:cs typeface="Aileron Ultra-Bold"/>
                <a:sym typeface="Aileron Ultra-Bold"/>
              </a:rPr>
              <a:t>, </a:t>
            </a:r>
            <a:r>
              <a:rPr lang="en-US" b="true" sz="2400" i="true">
                <a:solidFill>
                  <a:srgbClr val="322A2A"/>
                </a:solidFill>
                <a:latin typeface="Aileron Ultra-Bold Italics"/>
                <a:ea typeface="Aileron Ultra-Bold Italics"/>
                <a:cs typeface="Aileron Ultra-Bold Italics"/>
                <a:sym typeface="Aileron Ultra-Bold Italics"/>
              </a:rPr>
              <a:t>Load</a:t>
            </a:r>
            <a:r>
              <a:rPr lang="en-US" sz="2400" b="true">
                <a:solidFill>
                  <a:srgbClr val="322A2A"/>
                </a:solidFill>
                <a:latin typeface="Aileron Ultra-Bold"/>
                <a:ea typeface="Aileron Ultra-Bold"/>
                <a:cs typeface="Aileron Ultra-Bold"/>
                <a:sym typeface="Aileron Ultra-Bold"/>
              </a:rPr>
              <a:t>) untuk menganalisis distribusi kambing di Provinsi Jawa Barat, sektor penting dalam industri peternakan Indonesia. Data yang dikumpulkan diorganisasikan dan dianalisis secara efektif, sehingga memberikan informasi yang berharga untuk pengambilan keputusan. Studi ini juga menyoroti pentingnya pengambilan keputusan berbasis data dalam industri peternakan, merekomendasikan peningkatan efisiensi operasional dan tata kelola data untuk mengurangi sensitivitas dan memastikan regulasi data, sehingga meningkatkan efisiensi dan keberhasilan industri peternakan.</a:t>
            </a:r>
          </a:p>
        </p:txBody>
      </p:sp>
      <p:sp>
        <p:nvSpPr>
          <p:cNvPr name="TextBox 9" id="9"/>
          <p:cNvSpPr txBox="true"/>
          <p:nvPr/>
        </p:nvSpPr>
        <p:spPr>
          <a:xfrm rot="0">
            <a:off x="3839313" y="552450"/>
            <a:ext cx="13419987" cy="1994796"/>
          </a:xfrm>
          <a:prstGeom prst="rect">
            <a:avLst/>
          </a:prstGeom>
        </p:spPr>
        <p:txBody>
          <a:bodyPr anchor="t" rtlCol="false" tIns="0" lIns="0" bIns="0" rIns="0">
            <a:spAutoFit/>
          </a:bodyPr>
          <a:lstStyle/>
          <a:p>
            <a:pPr algn="ctr">
              <a:lnSpc>
                <a:spcPts val="13950"/>
              </a:lnSpc>
            </a:pPr>
            <a:r>
              <a:rPr lang="en-US" b="true" sz="9964">
                <a:solidFill>
                  <a:srgbClr val="134E1A"/>
                </a:solidFill>
                <a:latin typeface="Agrandir Narrow Heavy"/>
                <a:ea typeface="Agrandir Narrow Heavy"/>
                <a:cs typeface="Agrandir Narrow Heavy"/>
                <a:sym typeface="Agrandir Narrow Heavy"/>
              </a:rPr>
              <a:t>KESIMPULAN</a:t>
            </a:r>
          </a:p>
        </p:txBody>
      </p:sp>
      <p:sp>
        <p:nvSpPr>
          <p:cNvPr name="Freeform 10" id="10"/>
          <p:cNvSpPr/>
          <p:nvPr/>
        </p:nvSpPr>
        <p:spPr>
          <a:xfrm flipH="false" flipV="false" rot="0">
            <a:off x="107239" y="5530197"/>
            <a:ext cx="2729160" cy="406893"/>
          </a:xfrm>
          <a:custGeom>
            <a:avLst/>
            <a:gdLst/>
            <a:ahLst/>
            <a:cxnLst/>
            <a:rect r="r" b="b" t="t" l="l"/>
            <a:pathLst>
              <a:path h="406893" w="2729160">
                <a:moveTo>
                  <a:pt x="0" y="0"/>
                </a:moveTo>
                <a:lnTo>
                  <a:pt x="2729160" y="0"/>
                </a:lnTo>
                <a:lnTo>
                  <a:pt x="2729160" y="406893"/>
                </a:lnTo>
                <a:lnTo>
                  <a:pt x="0" y="406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5558840" y="5733644"/>
            <a:ext cx="2729160" cy="406893"/>
          </a:xfrm>
          <a:custGeom>
            <a:avLst/>
            <a:gdLst/>
            <a:ahLst/>
            <a:cxnLst/>
            <a:rect r="r" b="b" t="t" l="l"/>
            <a:pathLst>
              <a:path h="406893" w="2729160">
                <a:moveTo>
                  <a:pt x="0" y="0"/>
                </a:moveTo>
                <a:lnTo>
                  <a:pt x="2729160" y="0"/>
                </a:lnTo>
                <a:lnTo>
                  <a:pt x="2729160" y="406893"/>
                </a:lnTo>
                <a:lnTo>
                  <a:pt x="0" y="406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6"/>
            <a:stretch>
              <a:fillRect l="0" t="0" r="0" b="0"/>
            </a:stretch>
          </a:blipFill>
        </p:spPr>
      </p:sp>
      <p:sp>
        <p:nvSpPr>
          <p:cNvPr name="Freeform 13" id="13"/>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7"/>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grpSp>
        <p:nvGrpSpPr>
          <p:cNvPr name="Group 2" id="2"/>
          <p:cNvGrpSpPr/>
          <p:nvPr/>
        </p:nvGrpSpPr>
        <p:grpSpPr>
          <a:xfrm rot="0">
            <a:off x="0" y="6884463"/>
            <a:ext cx="18288000" cy="3402537"/>
            <a:chOff x="0" y="0"/>
            <a:chExt cx="4816593" cy="896141"/>
          </a:xfrm>
        </p:grpSpPr>
        <p:sp>
          <p:nvSpPr>
            <p:cNvPr name="Freeform 3" id="3"/>
            <p:cNvSpPr/>
            <p:nvPr/>
          </p:nvSpPr>
          <p:spPr>
            <a:xfrm flipH="false" flipV="false" rot="0">
              <a:off x="0" y="0"/>
              <a:ext cx="4816592" cy="896141"/>
            </a:xfrm>
            <a:custGeom>
              <a:avLst/>
              <a:gdLst/>
              <a:ahLst/>
              <a:cxnLst/>
              <a:rect r="r" b="b" t="t" l="l"/>
              <a:pathLst>
                <a:path h="896141" w="4816592">
                  <a:moveTo>
                    <a:pt x="0" y="0"/>
                  </a:moveTo>
                  <a:lnTo>
                    <a:pt x="4816592" y="0"/>
                  </a:lnTo>
                  <a:lnTo>
                    <a:pt x="4816592" y="896141"/>
                  </a:lnTo>
                  <a:lnTo>
                    <a:pt x="0" y="896141"/>
                  </a:lnTo>
                  <a:close/>
                </a:path>
              </a:pathLst>
            </a:custGeom>
            <a:solidFill>
              <a:srgbClr val="577550"/>
            </a:solidFill>
          </p:spPr>
        </p:sp>
        <p:sp>
          <p:nvSpPr>
            <p:cNvPr name="TextBox 4" id="4"/>
            <p:cNvSpPr txBox="true"/>
            <p:nvPr/>
          </p:nvSpPr>
          <p:spPr>
            <a:xfrm>
              <a:off x="0" y="-57150"/>
              <a:ext cx="4816593" cy="953291"/>
            </a:xfrm>
            <a:prstGeom prst="rect">
              <a:avLst/>
            </a:prstGeom>
          </p:spPr>
          <p:txBody>
            <a:bodyPr anchor="ctr" rtlCol="false" tIns="50800" lIns="50800" bIns="50800" rIns="50800"/>
            <a:lstStyle/>
            <a:p>
              <a:pPr algn="ctr">
                <a:lnSpc>
                  <a:spcPts val="3500"/>
                </a:lnSpc>
              </a:pPr>
            </a:p>
          </p:txBody>
        </p:sp>
      </p:grpSp>
      <p:sp>
        <p:nvSpPr>
          <p:cNvPr name="Freeform 5" id="5"/>
          <p:cNvSpPr/>
          <p:nvPr/>
        </p:nvSpPr>
        <p:spPr>
          <a:xfrm flipH="false" flipV="false" rot="-5400000">
            <a:off x="6973362" y="3650247"/>
            <a:ext cx="4341276" cy="8914961"/>
          </a:xfrm>
          <a:custGeom>
            <a:avLst/>
            <a:gdLst/>
            <a:ahLst/>
            <a:cxnLst/>
            <a:rect r="r" b="b" t="t" l="l"/>
            <a:pathLst>
              <a:path h="8914961" w="4341276">
                <a:moveTo>
                  <a:pt x="0" y="0"/>
                </a:moveTo>
                <a:lnTo>
                  <a:pt x="4341276" y="0"/>
                </a:lnTo>
                <a:lnTo>
                  <a:pt x="4341276" y="8914962"/>
                </a:lnTo>
                <a:lnTo>
                  <a:pt x="0" y="8914962"/>
                </a:lnTo>
                <a:lnTo>
                  <a:pt x="0" y="0"/>
                </a:lnTo>
                <a:close/>
              </a:path>
            </a:pathLst>
          </a:custGeom>
          <a:blipFill>
            <a:blip r:embed="rId2">
              <a:alphaModFix amt="50000"/>
            </a:blip>
            <a:stretch>
              <a:fillRect l="-1702" t="0" r="0" b="0"/>
            </a:stretch>
          </a:blipFill>
        </p:spPr>
      </p:sp>
      <p:sp>
        <p:nvSpPr>
          <p:cNvPr name="Freeform 6" id="6"/>
          <p:cNvSpPr/>
          <p:nvPr/>
        </p:nvSpPr>
        <p:spPr>
          <a:xfrm flipH="false" flipV="false" rot="0">
            <a:off x="1028700" y="5504123"/>
            <a:ext cx="2729160" cy="406893"/>
          </a:xfrm>
          <a:custGeom>
            <a:avLst/>
            <a:gdLst/>
            <a:ahLst/>
            <a:cxnLst/>
            <a:rect r="r" b="b" t="t" l="l"/>
            <a:pathLst>
              <a:path h="406893" w="2729160">
                <a:moveTo>
                  <a:pt x="0" y="0"/>
                </a:moveTo>
                <a:lnTo>
                  <a:pt x="2729160" y="0"/>
                </a:lnTo>
                <a:lnTo>
                  <a:pt x="2729160" y="406893"/>
                </a:lnTo>
                <a:lnTo>
                  <a:pt x="0" y="406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530140" y="5504123"/>
            <a:ext cx="2729160" cy="406893"/>
          </a:xfrm>
          <a:custGeom>
            <a:avLst/>
            <a:gdLst/>
            <a:ahLst/>
            <a:cxnLst/>
            <a:rect r="r" b="b" t="t" l="l"/>
            <a:pathLst>
              <a:path h="406893" w="2729160">
                <a:moveTo>
                  <a:pt x="0" y="0"/>
                </a:moveTo>
                <a:lnTo>
                  <a:pt x="2729160" y="0"/>
                </a:lnTo>
                <a:lnTo>
                  <a:pt x="2729160" y="406893"/>
                </a:lnTo>
                <a:lnTo>
                  <a:pt x="0" y="406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393280" y="4268600"/>
            <a:ext cx="13419987" cy="1994796"/>
          </a:xfrm>
          <a:prstGeom prst="rect">
            <a:avLst/>
          </a:prstGeom>
        </p:spPr>
        <p:txBody>
          <a:bodyPr anchor="t" rtlCol="false" tIns="0" lIns="0" bIns="0" rIns="0">
            <a:spAutoFit/>
          </a:bodyPr>
          <a:lstStyle/>
          <a:p>
            <a:pPr algn="ctr">
              <a:lnSpc>
                <a:spcPts val="13950"/>
              </a:lnSpc>
            </a:pPr>
            <a:r>
              <a:rPr lang="en-US" b="true" sz="9964">
                <a:solidFill>
                  <a:srgbClr val="134E1A"/>
                </a:solidFill>
                <a:latin typeface="Agrandir Narrow Heavy"/>
                <a:ea typeface="Agrandir Narrow Heavy"/>
                <a:cs typeface="Agrandir Narrow Heavy"/>
                <a:sym typeface="Agrandir Narrow Heavy"/>
              </a:rPr>
              <a:t>TERIMAKASIH</a:t>
            </a:r>
          </a:p>
        </p:txBody>
      </p:sp>
      <p:sp>
        <p:nvSpPr>
          <p:cNvPr name="Freeform 9" id="9"/>
          <p:cNvSpPr/>
          <p:nvPr/>
        </p:nvSpPr>
        <p:spPr>
          <a:xfrm flipH="false" flipV="false" rot="0">
            <a:off x="636137" y="577256"/>
            <a:ext cx="1671364" cy="890001"/>
          </a:xfrm>
          <a:custGeom>
            <a:avLst/>
            <a:gdLst/>
            <a:ahLst/>
            <a:cxnLst/>
            <a:rect r="r" b="b" t="t" l="l"/>
            <a:pathLst>
              <a:path h="890001" w="1671364">
                <a:moveTo>
                  <a:pt x="0" y="0"/>
                </a:moveTo>
                <a:lnTo>
                  <a:pt x="1671364" y="0"/>
                </a:lnTo>
                <a:lnTo>
                  <a:pt x="1671364" y="890001"/>
                </a:lnTo>
                <a:lnTo>
                  <a:pt x="0" y="890001"/>
                </a:lnTo>
                <a:lnTo>
                  <a:pt x="0" y="0"/>
                </a:lnTo>
                <a:close/>
              </a:path>
            </a:pathLst>
          </a:custGeom>
          <a:blipFill>
            <a:blip r:embed="rId5"/>
            <a:stretch>
              <a:fillRect l="0" t="0" r="0" b="0"/>
            </a:stretch>
          </a:blipFill>
        </p:spPr>
      </p:sp>
      <p:sp>
        <p:nvSpPr>
          <p:cNvPr name="Freeform 10" id="10"/>
          <p:cNvSpPr/>
          <p:nvPr/>
        </p:nvSpPr>
        <p:spPr>
          <a:xfrm flipH="false" flipV="false" rot="0">
            <a:off x="2681272" y="564369"/>
            <a:ext cx="1805776" cy="902888"/>
          </a:xfrm>
          <a:custGeom>
            <a:avLst/>
            <a:gdLst/>
            <a:ahLst/>
            <a:cxnLst/>
            <a:rect r="r" b="b" t="t" l="l"/>
            <a:pathLst>
              <a:path h="902888" w="1805776">
                <a:moveTo>
                  <a:pt x="0" y="0"/>
                </a:moveTo>
                <a:lnTo>
                  <a:pt x="1805776" y="0"/>
                </a:lnTo>
                <a:lnTo>
                  <a:pt x="1805776" y="902888"/>
                </a:lnTo>
                <a:lnTo>
                  <a:pt x="0" y="902888"/>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DAGZjAwzND0</dc:identifier>
  <dcterms:modified xsi:type="dcterms:W3CDTF">2011-08-01T06:04:30Z</dcterms:modified>
  <cp:revision>1</cp:revision>
  <dc:title>MENGANALISIS PENJUALAN KAMBING DI PROVINSI JAWA BARAT DALAM INDUSTRI PETERNAKAN</dc:title>
</cp:coreProperties>
</file>